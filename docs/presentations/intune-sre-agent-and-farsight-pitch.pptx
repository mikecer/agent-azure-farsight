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0"/>
            <a:ext cx="3291840" cy="5143500"/>
          </a:xfrm>
          <a:prstGeom prst="rect">
            <a:avLst/>
          </a:prstGeom>
          <a:solidFill>
            <a:srgbClr val="131F38"/>
          </a:solidFill>
          <a:ln w="12700">
            <a:solidFill>
              <a:srgbClr val="131F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502920"/>
            <a:ext cx="2651760" cy="256032"/>
          </a:xfrm>
          <a:prstGeom prst="roundRect">
            <a:avLst>
              <a:gd name="adj" fmla="val 21429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0292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TECHNICAL BRIEFING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932688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Endpoint Operations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Azure SRE Agent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029968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Cloud-Native Intune Triage (intune-collector) to Governed, Zero-Shell On-Device Evidence with Agent-Azure-FarSight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90672"/>
            <a:ext cx="16002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3090672"/>
            <a:ext cx="160020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2186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8368" y="3675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Shells or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Ports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0" y="3090672"/>
            <a:ext cx="16002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0" y="3090672"/>
            <a:ext cx="1600200" cy="5486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95728" y="32186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2-Tier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395728" y="3675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Graph + Endpoint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Depth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23360" y="3090672"/>
            <a:ext cx="1600200" cy="1170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3090672"/>
            <a:ext cx="1600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33088" y="321868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33088" y="3675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AGT Policy &amp; mTLS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Execution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0760" y="594360"/>
            <a:ext cx="269748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594360"/>
            <a:ext cx="73152" cy="87782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6858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REASONING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263640" y="85039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SRE Agent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108813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root-cause correlation across Intune &amp; endpoint evidence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080760" y="1618488"/>
            <a:ext cx="269748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1618488"/>
            <a:ext cx="73152" cy="87782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70992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1: CLOUD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263640" y="187452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intune-collector Tool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2112264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Zero-touch Microsoft Graph &amp; Endpoint Analytics synthesis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6080760" y="2642616"/>
            <a:ext cx="269748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80760" y="2642616"/>
            <a:ext cx="73152" cy="8778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734056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263640" y="28986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AGT Policy Gateway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63640" y="313639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allow / deny / human approval before endpoint action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6080760" y="3666744"/>
            <a:ext cx="2697480" cy="87782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0760" y="3666744"/>
            <a:ext cx="73152" cy="8778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63640" y="375818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2: ENDPOINT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263640" y="392277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Agent-Azure-FarSight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63640" y="41605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collector executing signed, read-only PowerShell modules</a:t>
            </a:r>
            <a:endParaRPr lang="en-US" sz="880" dirty="0"/>
          </a:p>
        </p:txBody>
      </p:sp>
      <p:sp>
        <p:nvSpPr>
          <p:cNvPr id="40" name="Text 38"/>
          <p:cNvSpPr/>
          <p:nvPr/>
        </p:nvSpPr>
        <p:spPr>
          <a:xfrm>
            <a:off x="548640" y="4709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Endpoint Reliability Architecture  |  2026 Customer Overview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1861718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8617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OPERATIONAL PROBLEM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Reality of Managing Thousands of Intune Endpoints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Operations and L2/L3 Support teams struggle with MTTR when troubleshooting complex Windows client issues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809744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554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SRE Agent for Intune  |  Agent-Azure-FarSight Governed Diagnostics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4855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/ 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207008"/>
            <a:ext cx="269748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207008"/>
            <a:ext cx="2697480" cy="640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" y="1344168"/>
            <a:ext cx="329184" cy="201168"/>
          </a:xfrm>
          <a:prstGeom prst="roundRect">
            <a:avLst>
              <a:gd name="adj" fmla="val 2727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13441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969264" y="1335024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Fragmented Cloud Telemetry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603504" y="1627632"/>
            <a:ext cx="2404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inventory, compliance policies, app installs, Windows Update states, and Endpoint Analytics live in separate Intune blades and Graph APIs.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03504" y="2441448"/>
            <a:ext cx="2404872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" y="2441448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Impact: 6+ Portals / Blades per Ticket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91840" y="1207008"/>
            <a:ext cx="269748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91840" y="1207008"/>
            <a:ext cx="269748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19856" y="1344168"/>
            <a:ext cx="329184" cy="201168"/>
          </a:xfrm>
          <a:prstGeom prst="roundRect">
            <a:avLst>
              <a:gd name="adj" fmla="val 2727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19856" y="134416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3803904" y="1335024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Telemetry Lag &amp; Blind Spots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3438144" y="1627632"/>
            <a:ext cx="2404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 check-in cadence and Graph APIs show high-level policy state, but lack real-time local app logs, service states, and custom config files.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3438144" y="2441448"/>
            <a:ext cx="2404872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11296" y="2441448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Impact: Hours of Stale Sync Delay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7200" y="2926080"/>
            <a:ext cx="269748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2926080"/>
            <a:ext cx="269748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85216" y="3063240"/>
            <a:ext cx="329184" cy="201168"/>
          </a:xfrm>
          <a:prstGeom prst="roundRect">
            <a:avLst>
              <a:gd name="adj" fmla="val 2727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5216" y="306324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969264" y="3054096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Disruptive User Escalations</a:t>
            </a:r>
            <a:endParaRPr lang="en-US" sz="1020" dirty="0"/>
          </a:p>
        </p:txBody>
      </p:sp>
      <p:sp>
        <p:nvSpPr>
          <p:cNvPr id="32" name="Text 30"/>
          <p:cNvSpPr/>
          <p:nvPr/>
        </p:nvSpPr>
        <p:spPr>
          <a:xfrm>
            <a:off x="603504" y="3346704"/>
            <a:ext cx="2404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cloud data isn't enough, L2/L3 engineers schedule screen-sharing sessions, interrupting employee productivity to inspect Event Viewer.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603504" y="4160520"/>
            <a:ext cx="2404872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6656" y="4160520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Impact: 45-90 Min per L3 Session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91840" y="2926080"/>
            <a:ext cx="2697480" cy="15910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91840" y="2926080"/>
            <a:ext cx="269748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19856" y="3063240"/>
            <a:ext cx="329184" cy="201168"/>
          </a:xfrm>
          <a:prstGeom prst="roundRect">
            <a:avLst>
              <a:gd name="adj" fmla="val 2727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19856" y="306324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3803904" y="3054096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High-Risk Ad-Hoc PowerShell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3438144" y="3346704"/>
            <a:ext cx="24048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ad-hoc remediation scripts or opening WinRM/remote shells introduces massive blast radius, compliance gaps, and zero audit replayability.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3438144" y="4160520"/>
            <a:ext cx="2404872" cy="237744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11296" y="4160520"/>
            <a:ext cx="2258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Impact: Unbounded Security Risk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72200" y="1207008"/>
            <a:ext cx="2514600" cy="3310128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355080" y="1353312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TRADITIONAL TRIAGE LOOP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6355080" y="15727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MTTR Scales Poorly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6355080" y="1938528"/>
            <a:ext cx="21488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46520" y="19933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User Ticket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446520" y="217627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"My PC is slow / LobApp crashes"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355080" y="2523744"/>
            <a:ext cx="21488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46520" y="257860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Manual Portal Hunt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446520" y="27614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checks 5 Intune blades manually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355080" y="3108960"/>
            <a:ext cx="21488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6520" y="316382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Missing Root Cause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6446520" y="334670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lacks local logs &amp; service state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355080" y="3694176"/>
            <a:ext cx="2148840" cy="47548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46520" y="374904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8FA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Remote Session / Script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446520" y="39319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live PowerShell or user interrupt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355080" y="4279392"/>
            <a:ext cx="2148840" cy="12801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1861718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8617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THE AI SRE PARADIGM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Azure SRE Agent for Endpoint Operations?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reactive manual ticket triage into autonomous, evidence-driven, and governed investigation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809744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554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SRE Agent for Intune  |  Agent-Azure-FarSight Governed Diagnostics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4855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/ 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170432"/>
            <a:ext cx="8229600" cy="62179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170432"/>
            <a:ext cx="64008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12618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Shift: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00200" y="1243584"/>
            <a:ext cx="6949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operators hunting across Intune portals and remoting into machines, the Azure SRE Agent orchestrates deterministic Python &amp; FarSight tools, correlates signals, and delivers a prioritized advisory report.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457200" y="1938528"/>
            <a:ext cx="2596896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1938528"/>
            <a:ext cx="2596896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" y="2121408"/>
            <a:ext cx="292608" cy="292608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2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92" dirty="0"/>
          </a:p>
        </p:txBody>
      </p:sp>
      <p:sp>
        <p:nvSpPr>
          <p:cNvPr id="19" name="Shape 17"/>
          <p:cNvSpPr/>
          <p:nvPr/>
        </p:nvSpPr>
        <p:spPr>
          <a:xfrm>
            <a:off x="987552" y="2157984"/>
            <a:ext cx="1691640" cy="201168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21579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EVIDENCE FIRST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621792" y="250545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Intune &amp; Graph Synthesis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" y="2871216"/>
            <a:ext cx="22677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Invokes intune_diagnostics_tool automatically by device name</a:t>
            </a:r>
            <a:endParaRPr lang="en-US" sz="89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compliance, Windows Update, Defender &amp; hardware sizing</a:t>
            </a:r>
            <a:endParaRPr lang="en-US" sz="89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Endpoint Analytics boot, sign-in &amp; app crash scores</a:t>
            </a:r>
            <a:endParaRPr lang="en-US" sz="89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70%+ of common triage questions without touching the client</a:t>
            </a:r>
            <a:endParaRPr lang="en-US" sz="890" dirty="0"/>
          </a:p>
        </p:txBody>
      </p:sp>
      <p:sp>
        <p:nvSpPr>
          <p:cNvPr id="23" name="Shape 21"/>
          <p:cNvSpPr/>
          <p:nvPr/>
        </p:nvSpPr>
        <p:spPr>
          <a:xfrm>
            <a:off x="3273552" y="1938528"/>
            <a:ext cx="2596896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73552" y="1938528"/>
            <a:ext cx="2596896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38144" y="2121408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38144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2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92" dirty="0"/>
          </a:p>
        </p:txBody>
      </p:sp>
      <p:sp>
        <p:nvSpPr>
          <p:cNvPr id="27" name="Shape 25"/>
          <p:cNvSpPr/>
          <p:nvPr/>
        </p:nvSpPr>
        <p:spPr>
          <a:xfrm>
            <a:off x="3803904" y="2157984"/>
            <a:ext cx="1691640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03904" y="21579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TARGETED DEEP DIVE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38144" y="250545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Governed Endpoint Reach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38144" y="2871216"/>
            <a:ext cx="22677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cloud data isn't enough, requests targeted endpoint evidence</a:t>
            </a:r>
            <a:endParaRPr lang="en-US" sz="89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remote shell: dispatches allowlisted, read-only diagnostic modules</a:t>
            </a:r>
            <a:endParaRPr lang="en-US" sz="89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local app log bundles, event slices, service &amp; config state</a:t>
            </a:r>
            <a:endParaRPr lang="en-US" sz="89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Microsoft AGT policy evaluation and human approval gates</a:t>
            </a:r>
            <a:endParaRPr lang="en-US" sz="890" dirty="0"/>
          </a:p>
        </p:txBody>
      </p:sp>
      <p:sp>
        <p:nvSpPr>
          <p:cNvPr id="31" name="Shape 29"/>
          <p:cNvSpPr/>
          <p:nvPr/>
        </p:nvSpPr>
        <p:spPr>
          <a:xfrm>
            <a:off x="6089904" y="1938528"/>
            <a:ext cx="2596896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089904" y="1938528"/>
            <a:ext cx="2596896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54496" y="2121408"/>
            <a:ext cx="292608" cy="292608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54496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92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92" dirty="0"/>
          </a:p>
        </p:txBody>
      </p:sp>
      <p:sp>
        <p:nvSpPr>
          <p:cNvPr id="35" name="Shape 33"/>
          <p:cNvSpPr/>
          <p:nvPr/>
        </p:nvSpPr>
        <p:spPr>
          <a:xfrm>
            <a:off x="6620256" y="2157984"/>
            <a:ext cx="1691640" cy="201168"/>
          </a:xfrm>
          <a:prstGeom prst="roundRect">
            <a:avLst>
              <a:gd name="adj" fmla="val 27273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0256" y="21579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ADVISORY BY DESIGN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254496" y="2505456"/>
            <a:ext cx="22677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Structured Root-Cause Report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54496" y="2871216"/>
            <a:ext cx="2267712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confirmed evidence from investigative hypotheses</a:t>
            </a:r>
            <a:endParaRPr lang="en-US" sz="89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exact JSON paths &amp; telemetry metrics (zero hallucination)</a:t>
            </a:r>
            <a:endParaRPr lang="en-US" sz="89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user-impacting bottlenecks (Critical to Low severity)</a:t>
            </a:r>
            <a:endParaRPr lang="en-US" sz="89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concrete, auditable remediation steps for Intune admins</a:t>
            </a:r>
            <a:endParaRPr lang="en-US" sz="89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1861718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8617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DIAGNOSTIC STRATEGY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Two-Stage Progressive Investigation Architecture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fast and non-intrusive with Microsoft Graph; escalate to governed on-device collection only when deeper proof is needed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809744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554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SRE Agent for Intune  |  Agent-Azure-FarSight Governed Diagnostics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4855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/ 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207008"/>
            <a:ext cx="379476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207008"/>
            <a:ext cx="379476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1353312"/>
            <a:ext cx="1600200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3533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1: CLOUD-NATIVE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21792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Intune Diagnostics Collector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21792" y="19202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zero-footprint analysis of existing tenant telemetry via Microsoft Graph v1.0 &amp; beta APIs.</a:t>
            </a:r>
            <a:endParaRPr lang="en-US" sz="920" dirty="0"/>
          </a:p>
        </p:txBody>
      </p:sp>
      <p:sp>
        <p:nvSpPr>
          <p:cNvPr id="17" name="Shape 15"/>
          <p:cNvSpPr/>
          <p:nvPr/>
        </p:nvSpPr>
        <p:spPr>
          <a:xfrm>
            <a:off x="621792" y="2304288"/>
            <a:ext cx="34747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233172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Source: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1609344" y="233172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(Intune + Endpoint Analytics + Entra)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621792" y="2715768"/>
            <a:ext cx="34747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" y="274320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Latency: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1609344" y="274320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(~5-15 seconds synchronous tool call)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21792" y="3127248"/>
            <a:ext cx="34747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" y="315468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Footprint:</a:t>
            </a:r>
            <a:endParaRPr lang="en-US" sz="830" dirty="0"/>
          </a:p>
        </p:txBody>
      </p:sp>
      <p:sp>
        <p:nvSpPr>
          <p:cNvPr id="25" name="Text 23"/>
          <p:cNvSpPr/>
          <p:nvPr/>
        </p:nvSpPr>
        <p:spPr>
          <a:xfrm>
            <a:off x="1609344" y="31546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endpoint agent required; 100% cloud API read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621792" y="3538728"/>
            <a:ext cx="3474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4944" y="3566160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For: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1609344" y="3566160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Boot/login scores, CPU/RAM spikes, app crashes, compliance, BitLocker/Defender &amp; Windows Update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621792" y="4059936"/>
            <a:ext cx="3474720" cy="45720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" y="4087368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Limitation:</a:t>
            </a:r>
            <a:endParaRPr lang="en-US" sz="830" dirty="0"/>
          </a:p>
        </p:txBody>
      </p:sp>
      <p:sp>
        <p:nvSpPr>
          <p:cNvPr id="31" name="Text 29"/>
          <p:cNvSpPr/>
          <p:nvPr/>
        </p:nvSpPr>
        <p:spPr>
          <a:xfrm>
            <a:off x="1609344" y="408736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read local custom app logs, live Windows services, Event Viewer slices, or TCP/TLS checks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4398264" y="2423160"/>
            <a:ext cx="347472" cy="1005840"/>
          </a:xfrm>
          <a:prstGeom prst="roundRect">
            <a:avLst>
              <a:gd name="adj" fmla="val 2105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98264" y="2423160"/>
            <a:ext cx="347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&gt;&gt;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92040" y="1207008"/>
            <a:ext cx="379476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92040" y="1207008"/>
            <a:ext cx="379476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056632" y="1353312"/>
            <a:ext cx="1874520" cy="219456"/>
          </a:xfrm>
          <a:prstGeom prst="roundRect">
            <a:avLst>
              <a:gd name="adj" fmla="val 25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56632" y="135331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STAGE 2: ON-DEVICE REACH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5056632" y="16276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Agent-Azure-FarSight Platform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5056632" y="192024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Brokered, AGT-governed remote evidence collection directly from the Windows endpoint.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5056632" y="2304288"/>
            <a:ext cx="34747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129784" y="233172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Source:</a:t>
            </a:r>
            <a:endParaRPr lang="en-US" sz="830" dirty="0"/>
          </a:p>
        </p:txBody>
      </p:sp>
      <p:sp>
        <p:nvSpPr>
          <p:cNvPr id="42" name="Text 40"/>
          <p:cNvSpPr/>
          <p:nvPr/>
        </p:nvSpPr>
        <p:spPr>
          <a:xfrm>
            <a:off x="6044184" y="233172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Windows Endpoint via Intune Collector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5056632" y="2715768"/>
            <a:ext cx="34747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29784" y="274320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Latency:</a:t>
            </a:r>
            <a:endParaRPr lang="en-US" sz="830" dirty="0"/>
          </a:p>
        </p:txBody>
      </p:sp>
      <p:sp>
        <p:nvSpPr>
          <p:cNvPr id="45" name="Text 43"/>
          <p:cNvSpPr/>
          <p:nvPr/>
        </p:nvSpPr>
        <p:spPr>
          <a:xfrm>
            <a:off x="6044184" y="274320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job lease (30-300s via monitor_farsight_job)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5056632" y="3127248"/>
            <a:ext cx="3474720" cy="34747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9784" y="3154680"/>
            <a:ext cx="896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Security:</a:t>
            </a:r>
            <a:endParaRPr lang="en-US" sz="830" dirty="0"/>
          </a:p>
        </p:txBody>
      </p:sp>
      <p:sp>
        <p:nvSpPr>
          <p:cNvPr id="48" name="Text 46"/>
          <p:cNvSpPr/>
          <p:nvPr/>
        </p:nvSpPr>
        <p:spPr>
          <a:xfrm>
            <a:off x="6044184" y="3154680"/>
            <a:ext cx="24323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mTLS + AGT Policy + SHA256 Manifest</a:t>
            </a:r>
            <a:endParaRPr lang="en-US" sz="820" dirty="0"/>
          </a:p>
        </p:txBody>
      </p:sp>
      <p:sp>
        <p:nvSpPr>
          <p:cNvPr id="49" name="Shape 47"/>
          <p:cNvSpPr/>
          <p:nvPr/>
        </p:nvSpPr>
        <p:spPr>
          <a:xfrm>
            <a:off x="5056632" y="3538728"/>
            <a:ext cx="3474720" cy="457200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29784" y="3566160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For:</a:t>
            </a:r>
            <a:endParaRPr lang="en-US" sz="830" dirty="0"/>
          </a:p>
        </p:txBody>
      </p:sp>
      <p:sp>
        <p:nvSpPr>
          <p:cNvPr id="51" name="Text 49"/>
          <p:cNvSpPr/>
          <p:nvPr/>
        </p:nvSpPr>
        <p:spPr>
          <a:xfrm>
            <a:off x="6044184" y="3566160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app log bundles (.zip), Windows Event slices, live service state, config drift &amp; TCP/TLS tests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5056632" y="4059936"/>
            <a:ext cx="3474720" cy="45720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129784" y="4087368"/>
            <a:ext cx="896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Extensibility:</a:t>
            </a:r>
            <a:endParaRPr lang="en-US" sz="830" dirty="0"/>
          </a:p>
        </p:txBody>
      </p:sp>
      <p:sp>
        <p:nvSpPr>
          <p:cNvPr id="54" name="Text 52"/>
          <p:cNvSpPr/>
          <p:nvPr/>
        </p:nvSpPr>
        <p:spPr>
          <a:xfrm>
            <a:off x="6044184" y="408736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custom PowerShell modules &amp; agent tools with strict JSON schemas and human approval gates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2860243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28602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SOLUTION PART 1: INTUNE-COLLECTOR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Inside the Intune Diagnostics Collector (intune-collector)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Python tool packaged for Azure SRE Agent that turns raw Microsoft Graph APIs into compact diagnostic intelligence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809744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554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SRE Agent for Intune  |  Agent-Azure-FarSight Governed Diagnostics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4855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/ 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207008"/>
            <a:ext cx="1938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207008"/>
            <a:ext cx="1938528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5216" y="1335024"/>
            <a:ext cx="658368" cy="18288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13350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585216" y="157276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SRE Agent Invocation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585216" y="1865376"/>
            <a:ext cx="16824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asks to diagnose WIN-CLIENT-001. Agent calls PythonFunctionTool with device_name &amp; auth_mode.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395728" y="170992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560320" y="1207008"/>
            <a:ext cx="1938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60320" y="1207008"/>
            <a:ext cx="1938528" cy="640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88336" y="1335024"/>
            <a:ext cx="658368" cy="18288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88336" y="13350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2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688336" y="157276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Identity &amp; Disambiguation</a:t>
            </a:r>
            <a:endParaRPr lang="en-US" sz="980" dirty="0"/>
          </a:p>
        </p:txBody>
      </p:sp>
      <p:sp>
        <p:nvSpPr>
          <p:cNvPr id="23" name="Text 21"/>
          <p:cNvSpPr/>
          <p:nvPr/>
        </p:nvSpPr>
        <p:spPr>
          <a:xfrm>
            <a:off x="2688336" y="1865376"/>
            <a:ext cx="16824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via Managed Identity or Key Vault SPN. Resolves deviceName or flags duplicates cleanly.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498848" y="170992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63440" y="1207008"/>
            <a:ext cx="1938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1207008"/>
            <a:ext cx="1938528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91456" y="1335024"/>
            <a:ext cx="658368" cy="18288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91456" y="13350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3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791456" y="157276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Multi-API Graph Fetch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4791456" y="1865376"/>
            <a:ext cx="16824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Graph v1.0 &amp; beta with percent-encoded paths, pagination caps, and error resilience.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601968" y="170992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766560" y="1207008"/>
            <a:ext cx="1938528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766560" y="1207008"/>
            <a:ext cx="1938528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94576" y="1335024"/>
            <a:ext cx="658368" cy="18288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94576" y="133502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4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6894576" y="1572768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Context-Window Synthesis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6894576" y="1865376"/>
            <a:ext cx="16824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Redacts PII by default, runs deterministic rules, and returns prioritized JSON to the LLM.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2706624"/>
            <a:ext cx="406908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2706624"/>
            <a:ext cx="64008" cy="195681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" y="279806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Single-Script Packaging &amp; Auth Modes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21792" y="3072384"/>
            <a:ext cx="3749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via build_single_script.py into agent/tools/intune_diagnostics_tool.py</a:t>
            </a:r>
            <a:endParaRPr lang="en-US" sz="8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a typed main(...) -&gt; dict entry point for Azure SRE Agent</a:t>
            </a:r>
            <a:endParaRPr lang="en-US" sz="8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Managed Identity (default) or Key Vault-backed Service Principal</a:t>
            </a:r>
            <a:endParaRPr lang="en-US" sz="8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Context-window optimized: strips healthy rows, keeping only failed settings &amp; key scores</a:t>
            </a:r>
            <a:endParaRPr lang="en-US" sz="88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by default: masks UPN, serial &amp; user unless --include-pii is approved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4663440" y="2706624"/>
            <a:ext cx="4023360" cy="195681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663440" y="2706624"/>
            <a:ext cx="64008" cy="195681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279806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Read-Only Microsoft Graph Permissions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8032" y="3063240"/>
          <a:ext cx="3730752" cy="914400"/>
        </p:xfrm>
        <a:graphic>
          <a:graphicData uri="http://schemas.openxmlformats.org/drawingml/2006/table">
            <a:tbl>
              <a:tblPr/>
              <a:tblGrid>
                <a:gridCol w="2176272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Graph Permission (Application)</a:t>
                      </a:r>
                      <a:endParaRPr lang="en-US" sz="750" dirty="0"/>
                    </a:p>
                  </a:txBody>
                  <a:tcPr marL="38100" marR="38100" marT="19050" marB="190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Diagnostic Scope</a:t>
                      </a:r>
                      <a:endParaRPr lang="en-US" sz="750" dirty="0"/>
                    </a:p>
                  </a:txBody>
                  <a:tcPr marL="38100" marR="38100" marT="19050" marB="190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DeviceManagementManagedDevices.Read.All</a:t>
                      </a:r>
                      <a:endParaRPr lang="en-US" sz="6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19050" marB="190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334155"/>
                          </a:solidFill>
                        </a:rPr>
                        <a:t>Device health, actions, restarts, updates</a:t>
                      </a:r>
                      <a:endParaRPr lang="en-US" sz="740" dirty="0"/>
                    </a:p>
                  </a:txBody>
                  <a:tcPr marL="38100" marR="38100" marT="19050" marB="190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DeviceManagementConfiguration.Read.All</a:t>
                      </a:r>
                      <a:endParaRPr lang="en-US" sz="6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19050" marB="190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334155"/>
                          </a:solidFill>
                        </a:rPr>
                        <a:t>Compliance, config, Defender, remediations</a:t>
                      </a:r>
                      <a:endParaRPr lang="en-US" sz="740" dirty="0"/>
                    </a:p>
                  </a:txBody>
                  <a:tcPr marL="38100" marR="38100" marT="19050" marB="190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DeviceManagementApps.Read.All</a:t>
                      </a:r>
                      <a:endParaRPr lang="en-US" sz="6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19050" marB="190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334155"/>
                          </a:solidFill>
                        </a:rPr>
                        <a:t>Failed app installs &amp; detected inventory</a:t>
                      </a:r>
                      <a:endParaRPr lang="en-US" sz="740" dirty="0"/>
                    </a:p>
                  </a:txBody>
                  <a:tcPr marL="38100" marR="38100" marT="19050" marB="190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DeviceManagementServiceConfig.Read.All</a:t>
                      </a:r>
                      <a:endParaRPr lang="en-US" sz="6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19050" marB="190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334155"/>
                          </a:solidFill>
                        </a:rPr>
                        <a:t>Endpoint Analytics &amp; Autopilot identity</a:t>
                      </a:r>
                      <a:endParaRPr lang="en-US" sz="740" dirty="0"/>
                    </a:p>
                  </a:txBody>
                  <a:tcPr marL="38100" marR="38100" marT="19050" marB="190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User.Read.All / Directory.Read.All</a:t>
                      </a:r>
                      <a:endParaRPr lang="en-US" sz="6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38100" marR="38100" marT="19050" marB="190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334155"/>
                          </a:solidFill>
                        </a:rPr>
                        <a:t>Optional: user events &amp; Entra device state</a:t>
                      </a:r>
                      <a:endParaRPr lang="en-US" sz="740" dirty="0"/>
                    </a:p>
                  </a:txBody>
                  <a:tcPr marL="38100" marR="38100" marT="19050" marB="190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2860243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286024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SOLUTION PART 1: INTUNE-COLLECTOR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360° Endpoint Telemetry Synthesized by intune-collector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Intune v1.0 &amp; beta Endpoint Analytics into one deterministic JSON payload (target, assessment, issues, diagnostic_evidence)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809744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554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SRE Agent for Intune  |  Agent-Azure-FarSight Governed Diagnostics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4855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/ 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207008"/>
            <a:ext cx="2596896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207008"/>
            <a:ext cx="64008" cy="16093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1335024"/>
            <a:ext cx="1417320" cy="18288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3350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(BETA)</a:t>
            </a:r>
            <a:endParaRPr lang="en-US" sz="720" dirty="0"/>
          </a:p>
        </p:txBody>
      </p:sp>
      <p:sp>
        <p:nvSpPr>
          <p:cNvPr id="15" name="Text 13"/>
          <p:cNvSpPr/>
          <p:nvPr/>
        </p:nvSpPr>
        <p:spPr>
          <a:xfrm>
            <a:off x="621792" y="155448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Startup &amp; Resource Scores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621792" y="1828800"/>
            <a:ext cx="2340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score, sign-in score &amp; GP overhead</a:t>
            </a:r>
            <a:endParaRPr lang="en-US" sz="82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&amp; RAM spike percentages</a:t>
            </a:r>
            <a:endParaRPr lang="en-US" sz="82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screen (BSOD) &amp; restart counts</a:t>
            </a:r>
            <a:endParaRPr lang="en-US" sz="82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sizing vs workload bottlenecks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3273552" y="1207008"/>
            <a:ext cx="2596896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73552" y="1207008"/>
            <a:ext cx="64008" cy="1609344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38144" y="1335024"/>
            <a:ext cx="1417320" cy="18288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38144" y="13350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RELIABILITY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3438144" y="155448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Crashes &amp; Install Failures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3438144" y="1828800"/>
            <a:ext cx="2340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Analytics app reliability score</a:t>
            </a:r>
            <a:endParaRPr lang="en-US" sz="82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Crashing app list, hang counts &amp; MTTF</a:t>
            </a:r>
            <a:endParaRPr lang="en-US" sz="82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app inventory (name, version)</a:t>
            </a:r>
            <a:endParaRPr lang="en-US" sz="82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Win32/LOB app install reports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089904" y="1207008"/>
            <a:ext cx="2596896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9904" y="1207008"/>
            <a:ext cx="64008" cy="16093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4496" y="1335024"/>
            <a:ext cx="1417320" cy="18288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1335024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DEVICE HEALTH &amp; STORAGE</a:t>
            </a:r>
            <a:endParaRPr lang="en-US" sz="720" dirty="0"/>
          </a:p>
        </p:txBody>
      </p:sp>
      <p:sp>
        <p:nvSpPr>
          <p:cNvPr id="27" name="Text 25"/>
          <p:cNvSpPr/>
          <p:nvPr/>
        </p:nvSpPr>
        <p:spPr>
          <a:xfrm>
            <a:off x="6254496" y="1554480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&amp; Encryption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6254496" y="1828800"/>
            <a:ext cx="2340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vs free disk &amp; freeStoragePercent</a:t>
            </a:r>
            <a:endParaRPr lang="en-US" sz="82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RAM &amp; processor architecture</a:t>
            </a:r>
            <a:endParaRPr lang="en-US" sz="82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BitLocker (isEncrypted) &amp; attestation</a:t>
            </a:r>
            <a:endParaRPr lang="en-US" sz="82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cert expiration tracking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457200" y="2962656"/>
            <a:ext cx="2596896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2962656"/>
            <a:ext cx="64008" cy="160934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" y="3090672"/>
            <a:ext cx="1417320" cy="18288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0906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&amp; CONFIG DRIFT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621792" y="3310128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Setting-Level Failures Only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621792" y="3584448"/>
            <a:ext cx="2340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Noncompliant compliance policy states</a:t>
            </a:r>
            <a:endParaRPr lang="en-US" sz="82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Error/conflict config setting rows</a:t>
            </a:r>
            <a:endParaRPr lang="en-US" sz="82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grace period expiration</a:t>
            </a:r>
            <a:endParaRPr lang="en-US" sz="82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remediation script failures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3273552" y="2962656"/>
            <a:ext cx="2596896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73552" y="2962656"/>
            <a:ext cx="64008" cy="160934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38144" y="3090672"/>
            <a:ext cx="1417320" cy="18288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8144" y="30906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&amp; UPDATES</a:t>
            </a:r>
            <a:endParaRPr lang="en-US" sz="720" dirty="0"/>
          </a:p>
        </p:txBody>
      </p:sp>
      <p:sp>
        <p:nvSpPr>
          <p:cNvPr id="39" name="Text 37"/>
          <p:cNvSpPr/>
          <p:nvPr/>
        </p:nvSpPr>
        <p:spPr>
          <a:xfrm>
            <a:off x="3438144" y="3310128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Defender &amp; Windows Update</a:t>
            </a:r>
            <a:endParaRPr lang="en-US" sz="1120" dirty="0"/>
          </a:p>
        </p:txBody>
      </p:sp>
      <p:sp>
        <p:nvSpPr>
          <p:cNvPr id="40" name="Text 38"/>
          <p:cNvSpPr/>
          <p:nvPr/>
        </p:nvSpPr>
        <p:spPr>
          <a:xfrm>
            <a:off x="3438144" y="3584448"/>
            <a:ext cx="2340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Defender state &amp; active malware count</a:t>
            </a:r>
            <a:endParaRPr lang="en-US" sz="82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intent state mismatches</a:t>
            </a:r>
            <a:endParaRPr lang="en-US" sz="82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&amp; quality update errors</a:t>
            </a:r>
            <a:endParaRPr lang="en-US" sz="82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ID device enablement posture</a:t>
            </a:r>
            <a:endParaRPr lang="en-US" sz="820" dirty="0"/>
          </a:p>
        </p:txBody>
      </p:sp>
      <p:sp>
        <p:nvSpPr>
          <p:cNvPr id="41" name="Shape 39"/>
          <p:cNvSpPr/>
          <p:nvPr/>
        </p:nvSpPr>
        <p:spPr>
          <a:xfrm>
            <a:off x="6089904" y="2962656"/>
            <a:ext cx="2596896" cy="160934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89904" y="2962656"/>
            <a:ext cx="64008" cy="1609344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54496" y="3090672"/>
            <a:ext cx="1417320" cy="18288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3090672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284C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 &amp; ACTIONS</a:t>
            </a:r>
            <a:endParaRPr lang="en-US" sz="720" dirty="0"/>
          </a:p>
        </p:txBody>
      </p:sp>
      <p:sp>
        <p:nvSpPr>
          <p:cNvPr id="45" name="Text 43"/>
          <p:cNvSpPr/>
          <p:nvPr/>
        </p:nvSpPr>
        <p:spPr>
          <a:xfrm>
            <a:off x="6254496" y="3310128"/>
            <a:ext cx="23225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Chronological Device Context</a:t>
            </a:r>
            <a:endParaRPr lang="en-US" sz="1120" dirty="0"/>
          </a:p>
        </p:txBody>
      </p:sp>
      <p:sp>
        <p:nvSpPr>
          <p:cNvPr id="46" name="Text 44"/>
          <p:cNvSpPr/>
          <p:nvPr/>
        </p:nvSpPr>
        <p:spPr>
          <a:xfrm>
            <a:off x="6254496" y="3584448"/>
            <a:ext cx="234086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Intune rebootNow / shutDown</a:t>
            </a:r>
            <a:endParaRPr lang="en-US" sz="82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User-scoped troubleshooting events</a:t>
            </a:r>
            <a:endParaRPr lang="en-US" sz="82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 audit events for device ID</a:t>
            </a:r>
            <a:endParaRPr lang="en-US" sz="820" dirty="0"/>
          </a:p>
          <a:p>
            <a:pPr marL="342900" indent="-342900">
              <a:spcAft>
                <a:spcPts val="250"/>
              </a:spcAft>
              <a:buSzPct val="100000"/>
              <a:buChar char="•"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issues[] with remediation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1647749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64774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BRIDGING THE GAP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Intune Graph Telemetry Alone Is Not Enough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Intune tells you WHAT policy failed or WHICH app crashed — FarSight puts governed agent hands on the machine to prove WHY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809744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554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SRE Agent for Intune  |  Agent-Azure-FarSight Governed Diagnostics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4855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/ 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207008"/>
            <a:ext cx="397764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207008"/>
            <a:ext cx="3977640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335024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Cloud Telemetry Ceiling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1627632"/>
            <a:ext cx="361188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raw application logs: Graph shows AppWorkload crashed 5 times, but cannot read C:\ProgramData\Contoso\Logs\app.log.</a:t>
            </a:r>
            <a:endParaRPr lang="en-US" sz="8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local Event Viewer slices: Intune tracks cloud rebootNow actions, not local System/Application Event IDs.</a:t>
            </a:r>
            <a:endParaRPr lang="en-US" sz="8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service or process state: Graph cannot verify if a dependent Windows service is hung or stopped right now.</a:t>
            </a:r>
            <a:endParaRPr lang="en-US" sz="8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client connectivity checks: Cannot test if a proxy or TLS cert is blocking an internal endpoint from the PC.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4709160" y="1207008"/>
            <a:ext cx="3977640" cy="214884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207008"/>
            <a:ext cx="397764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92040" y="1335024"/>
            <a:ext cx="2011680" cy="201168"/>
          </a:xfrm>
          <a:prstGeom prst="roundRect">
            <a:avLst>
              <a:gd name="adj" fmla="val 27273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33502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 AGENT-AZURE-FARSIGHT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892040" y="1591056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Controlled Hands on the Client Machine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1865376"/>
            <a:ext cx="361188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Azure SRE Agent from cloud telemetry into governed, on-device diagnostic execution.</a:t>
            </a:r>
            <a:endParaRPr lang="en-US" sz="8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Remote Shell: Never opens inbound ports, WinRM, or arbitrary PowerShell execution.</a:t>
            </a:r>
            <a:endParaRPr lang="en-US" sz="8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Modules &amp; Approved Jobs: Runs only signed, allowlisted modules with JSON-schema validated inputs.</a:t>
            </a:r>
            <a:endParaRPr lang="en-US" sz="88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8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Governance: Broad or sensitive jobs pause in waiting_approval until an admin approves.</a:t>
            </a:r>
            <a:endParaRPr lang="en-US" sz="880" dirty="0"/>
          </a:p>
        </p:txBody>
      </p:sp>
      <p:sp>
        <p:nvSpPr>
          <p:cNvPr id="21" name="Text 19"/>
          <p:cNvSpPr/>
          <p:nvPr/>
        </p:nvSpPr>
        <p:spPr>
          <a:xfrm>
            <a:off x="457200" y="34747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the Two Layers Work Together in Practice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730752"/>
            <a:ext cx="2596896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730752"/>
            <a:ext cx="64008" cy="950976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" y="37764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A: LOB App Crashing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3504" y="3995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Cloud: intune-collector spots high crash count in Endpoint Analytics</a:t>
            </a:r>
            <a:endParaRPr lang="en-US" sz="810" dirty="0"/>
          </a:p>
        </p:txBody>
      </p:sp>
      <p:sp>
        <p:nvSpPr>
          <p:cNvPr id="26" name="Text 24"/>
          <p:cNvSpPr/>
          <p:nvPr/>
        </p:nvSpPr>
        <p:spPr>
          <a:xfrm>
            <a:off x="603504" y="42976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FarSight: Runs Get-AppLogBundle &amp; Get-AppEventSlice on client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3273552" y="3730752"/>
            <a:ext cx="2596896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73552" y="3730752"/>
            <a:ext cx="64008" cy="95097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9856" y="37764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B: Internal API Unreachable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419856" y="3995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Cloud: intune-collector confirms VPN config profile is compliant</a:t>
            </a:r>
            <a:endParaRPr lang="en-US" sz="810" dirty="0"/>
          </a:p>
        </p:txBody>
      </p:sp>
      <p:sp>
        <p:nvSpPr>
          <p:cNvPr id="31" name="Text 29"/>
          <p:cNvSpPr/>
          <p:nvPr/>
        </p:nvSpPr>
        <p:spPr>
          <a:xfrm>
            <a:off x="3419856" y="42976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FarSight: Runs Test-AppConnectivity for live DNS/TCP/TLS check</a:t>
            </a:r>
            <a:endParaRPr lang="en-US" sz="810" dirty="0"/>
          </a:p>
        </p:txBody>
      </p:sp>
      <p:sp>
        <p:nvSpPr>
          <p:cNvPr id="32" name="Shape 30"/>
          <p:cNvSpPr/>
          <p:nvPr/>
        </p:nvSpPr>
        <p:spPr>
          <a:xfrm>
            <a:off x="6089904" y="3730752"/>
            <a:ext cx="2596896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89904" y="3730752"/>
            <a:ext cx="64008" cy="950976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36208" y="377647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Scenario C: Service Silent Failure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36208" y="39959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Cloud: intune-collector sees healthy OS &amp; disk space</a:t>
            </a:r>
            <a:endParaRPr lang="en-US" sz="810" dirty="0"/>
          </a:p>
        </p:txBody>
      </p:sp>
      <p:sp>
        <p:nvSpPr>
          <p:cNvPr id="36" name="Text 34"/>
          <p:cNvSpPr/>
          <p:nvPr/>
        </p:nvSpPr>
        <p:spPr>
          <a:xfrm>
            <a:off x="6236208" y="429768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FarSight: Runs Get-ServiceStatusSnapshot &amp; Get-ConfigEvidence</a:t>
            </a:r>
            <a:endParaRPr lang="en-US" sz="81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2503627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250362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FARSIGHT SECURITY PHILOSOPHY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Non-Negotiable Guardrails of Agent-Azure-FarSight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from day one to satisfy Enterprise Security, SOC, and Endpoint Engineering teams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809744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554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SRE Agent for Intune  |  Agent-Azure-FarSight Governed Diagnostics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4855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 / 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234440"/>
            <a:ext cx="259689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234440"/>
            <a:ext cx="2596896" cy="6400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1417320"/>
            <a:ext cx="310896" cy="310896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4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054" dirty="0"/>
          </a:p>
        </p:txBody>
      </p:sp>
      <p:sp>
        <p:nvSpPr>
          <p:cNvPr id="15" name="Text 13"/>
          <p:cNvSpPr/>
          <p:nvPr/>
        </p:nvSpPr>
        <p:spPr>
          <a:xfrm>
            <a:off x="1024128" y="143560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Remote Shell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1792" y="1837944"/>
            <a:ext cx="2267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never submits arbitrary PowerShell, script blocks, or command strings. Only named module IDs are dispatcheable.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3273552" y="1234440"/>
            <a:ext cx="259689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73552" y="1234440"/>
            <a:ext cx="2596896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38144" y="1417320"/>
            <a:ext cx="310896" cy="310896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38144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4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054" dirty="0"/>
          </a:p>
        </p:txBody>
      </p:sp>
      <p:sp>
        <p:nvSpPr>
          <p:cNvPr id="21" name="Text 19"/>
          <p:cNvSpPr/>
          <p:nvPr/>
        </p:nvSpPr>
        <p:spPr>
          <a:xfrm>
            <a:off x="3840480" y="143560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Inbound Ports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38144" y="1837944"/>
            <a:ext cx="2267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never listen for connections. The collector initiates outbound HTTPS check-ins authenticated with device mTLS certificates.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6089904" y="1234440"/>
            <a:ext cx="259689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9904" y="1234440"/>
            <a:ext cx="2596896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4496" y="1417320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54496" y="1417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4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054" dirty="0"/>
          </a:p>
        </p:txBody>
      </p:sp>
      <p:sp>
        <p:nvSpPr>
          <p:cNvPr id="27" name="Text 25"/>
          <p:cNvSpPr/>
          <p:nvPr/>
        </p:nvSpPr>
        <p:spPr>
          <a:xfrm>
            <a:off x="6656832" y="143560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Allowlisted Modules Only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54496" y="1837944"/>
            <a:ext cx="2267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Collectors execute only modules listed in a local manifest with verified SHA256 script hashes and strict JSON input schemas.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57200" y="2971800"/>
            <a:ext cx="259689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2971800"/>
            <a:ext cx="2596896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" y="3154680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4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054" dirty="0"/>
          </a:p>
        </p:txBody>
      </p:sp>
      <p:sp>
        <p:nvSpPr>
          <p:cNvPr id="33" name="Text 31"/>
          <p:cNvSpPr/>
          <p:nvPr/>
        </p:nvSpPr>
        <p:spPr>
          <a:xfrm>
            <a:off x="1024128" y="317296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Dual-Control Governance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1792" y="3575304"/>
            <a:ext cx="2267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AGT policy engine gates every SRE Agent tool call; the endpoint independently re-validates manifest, schema, and allowlists.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3273552" y="2971800"/>
            <a:ext cx="259689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73552" y="2971800"/>
            <a:ext cx="2596896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38144" y="3154680"/>
            <a:ext cx="310896" cy="310896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38144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4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054" dirty="0"/>
          </a:p>
        </p:txBody>
      </p:sp>
      <p:sp>
        <p:nvSpPr>
          <p:cNvPr id="39" name="Text 37"/>
          <p:cNvSpPr/>
          <p:nvPr/>
        </p:nvSpPr>
        <p:spPr>
          <a:xfrm>
            <a:off x="3840480" y="317296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Bounded &amp; Redacted Data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438144" y="3575304"/>
            <a:ext cx="2267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execution timeouts, file/byte caps, and local PII/secret redaction run before any evidence or ZIP artifact leaves the device.</a:t>
            </a:r>
            <a:endParaRPr lang="en-US" sz="930" dirty="0"/>
          </a:p>
        </p:txBody>
      </p:sp>
      <p:sp>
        <p:nvSpPr>
          <p:cNvPr id="41" name="Shape 39"/>
          <p:cNvSpPr/>
          <p:nvPr/>
        </p:nvSpPr>
        <p:spPr>
          <a:xfrm>
            <a:off x="6089904" y="2971800"/>
            <a:ext cx="2596896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89904" y="2971800"/>
            <a:ext cx="2596896" cy="640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54496" y="3154680"/>
            <a:ext cx="310896" cy="310896"/>
          </a:xfrm>
          <a:prstGeom prst="ellipse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54496" y="31546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4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054" dirty="0"/>
          </a:p>
        </p:txBody>
      </p:sp>
      <p:sp>
        <p:nvSpPr>
          <p:cNvPr id="45" name="Text 43"/>
          <p:cNvSpPr/>
          <p:nvPr/>
        </p:nvSpPr>
        <p:spPr>
          <a:xfrm>
            <a:off x="6656832" y="3172968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Fail-Closed &amp; Auditable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254496" y="3575304"/>
            <a:ext cx="22677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3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identity, expired certs, or unreachable policy APIs block execution immediately. Every call emits an immutable audit event.</a:t>
            </a:r>
            <a:endParaRPr lang="en-US" sz="9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2075688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TECHNICAL ARCHITECTURE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Agent-Azure-FarSight End-to-End Architecture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separation of concerns: SRE Agent reasoning plane, AGT governance gateway, FarSight control plane, and Intune endpoints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809744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554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SRE Agent for Intune  |  Agent-Azure-FarSight Governed Diagnostics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4855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/ 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207008"/>
            <a:ext cx="2304288" cy="345643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207008"/>
            <a:ext cx="2304288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1353312"/>
            <a:ext cx="2084832" cy="201168"/>
          </a:xfrm>
          <a:prstGeom prst="roundRect">
            <a:avLst>
              <a:gd name="adj" fmla="val 27273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35331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SWEDEN CENTRAL (AGENT PLANE)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566928" y="1664208"/>
            <a:ext cx="20848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1719072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SRE Operator / Admin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58368" y="192024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investigation prompt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566928" y="2377440"/>
            <a:ext cx="20848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2432304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SRE Agent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58368" y="2633472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agent-azure-farsight-sre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Skills: Intune, Context, Orchestration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566928" y="3090672"/>
            <a:ext cx="20848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3145536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intune_diagnostics_tool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58368" y="3346704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Microsoft Graph v1.0 &amp; beta read (Managed Identity / KV)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66928" y="3803904"/>
            <a:ext cx="2084832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858768"/>
            <a:ext cx="19019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FarSight Tool Wrappers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58368" y="4059936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create_diagnostic_job, monitor_farsight_job, download_artifact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779776" y="2514600"/>
            <a:ext cx="621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HTTPS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Workload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JWT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419856" y="1207008"/>
            <a:ext cx="2889504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19856" y="1207008"/>
            <a:ext cx="2889504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47872" y="1353312"/>
            <a:ext cx="2633472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1353312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ITALY NORTH (FARSIGHT CONTROL PLANE)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3547872" y="1664208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47872" y="1664208"/>
            <a:ext cx="64008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75888" y="1719072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AGT Tool Gateway (Container App)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3675888" y="1920240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/tools/* | Evaluates active farsight-tool-policy via Microsoft AGT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547872" y="2377440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547872" y="2377440"/>
            <a:ext cx="64008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75888" y="2432304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FarSight Control API (FastAPI)</a:t>
            </a:r>
            <a:endParaRPr lang="en-US" sz="920" dirty="0"/>
          </a:p>
        </p:txBody>
      </p:sp>
      <p:sp>
        <p:nvSpPr>
          <p:cNvPr id="39" name="Text 37"/>
          <p:cNvSpPr/>
          <p:nvPr/>
        </p:nvSpPr>
        <p:spPr>
          <a:xfrm>
            <a:off x="3675888" y="2633472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device check-in, leases, approvals, artifact SAS &amp; proxy upload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547872" y="3090672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47872" y="3090672"/>
            <a:ext cx="64008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75888" y="3145536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 Web App + FastAPI BFF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3675888" y="3346704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Easy Auth | Policy Monaco Editor | Approvals | Tool Telemetry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3547872" y="3803904"/>
            <a:ext cx="2633472" cy="62179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547872" y="3803904"/>
            <a:ext cx="64008" cy="6217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75888" y="3858768"/>
            <a:ext cx="2432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Cosmos DB + Blob + Log Analytics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3675888" y="4059936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Cosmos containers (jobs, devices, policies, auditEvents) + ZIP blobs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327648" y="2514600"/>
            <a:ext cx="6035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← Outbound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mTLS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Check-in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949440" y="1207008"/>
            <a:ext cx="1737360" cy="3456432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949440" y="1207008"/>
            <a:ext cx="1737360" cy="6400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059168" y="1353312"/>
            <a:ext cx="1517904" cy="201168"/>
          </a:xfrm>
          <a:prstGeom prst="roundRect">
            <a:avLst>
              <a:gd name="adj" fmla="val 2727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59168" y="1353312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65F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WINDOWS ENDPOINTS</a:t>
            </a:r>
            <a:endParaRPr lang="en-US" sz="720" dirty="0"/>
          </a:p>
        </p:txBody>
      </p:sp>
      <p:sp>
        <p:nvSpPr>
          <p:cNvPr id="53" name="Shape 51"/>
          <p:cNvSpPr/>
          <p:nvPr/>
        </p:nvSpPr>
        <p:spPr>
          <a:xfrm>
            <a:off x="7059168" y="1664208"/>
            <a:ext cx="151790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0" y="17190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Intune Win32 &amp; PKI</a:t>
            </a:r>
            <a:endParaRPr lang="en-US" sz="880" dirty="0"/>
          </a:p>
        </p:txBody>
      </p:sp>
      <p:sp>
        <p:nvSpPr>
          <p:cNvPr id="55" name="Text 53"/>
          <p:cNvSpPr/>
          <p:nvPr/>
        </p:nvSpPr>
        <p:spPr>
          <a:xfrm>
            <a:off x="7132320" y="192024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collector, SCEP/PKCS cert &amp; remediation</a:t>
            </a:r>
            <a:endParaRPr lang="en-US" sz="740" dirty="0"/>
          </a:p>
        </p:txBody>
      </p:sp>
      <p:sp>
        <p:nvSpPr>
          <p:cNvPr id="56" name="Shape 54"/>
          <p:cNvSpPr/>
          <p:nvPr/>
        </p:nvSpPr>
        <p:spPr>
          <a:xfrm>
            <a:off x="7059168" y="2377440"/>
            <a:ext cx="151790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32320" y="24323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Scheduler</a:t>
            </a:r>
            <a:endParaRPr lang="en-US" sz="880" dirty="0"/>
          </a:p>
        </p:txBody>
      </p:sp>
      <p:sp>
        <p:nvSpPr>
          <p:cNvPr id="58" name="Text 56"/>
          <p:cNvSpPr/>
          <p:nvPr/>
        </p:nvSpPr>
        <p:spPr>
          <a:xfrm>
            <a:off x="7132320" y="2633472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collector.ps1 every 5-15m as SYSTEM</a:t>
            </a:r>
            <a:endParaRPr lang="en-US" sz="740" dirty="0"/>
          </a:p>
        </p:txBody>
      </p:sp>
      <p:sp>
        <p:nvSpPr>
          <p:cNvPr id="59" name="Shape 57"/>
          <p:cNvSpPr/>
          <p:nvPr/>
        </p:nvSpPr>
        <p:spPr>
          <a:xfrm>
            <a:off x="7059168" y="3090672"/>
            <a:ext cx="151790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32320" y="314553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PowerShell Collector</a:t>
            </a:r>
            <a:endParaRPr lang="en-US" sz="880" dirty="0"/>
          </a:p>
        </p:txBody>
      </p:sp>
      <p:sp>
        <p:nvSpPr>
          <p:cNvPr id="61" name="Text 59"/>
          <p:cNvSpPr/>
          <p:nvPr/>
        </p:nvSpPr>
        <p:spPr>
          <a:xfrm>
            <a:off x="7132320" y="3346704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lock, cert, manifest SHA256 &amp; JSON schema</a:t>
            </a:r>
            <a:endParaRPr lang="en-US" sz="740" dirty="0"/>
          </a:p>
        </p:txBody>
      </p:sp>
      <p:sp>
        <p:nvSpPr>
          <p:cNvPr id="62" name="Shape 60"/>
          <p:cNvSpPr/>
          <p:nvPr/>
        </p:nvSpPr>
        <p:spPr>
          <a:xfrm>
            <a:off x="7059168" y="3803904"/>
            <a:ext cx="1517904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32320" y="38587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Allowlisted Modules</a:t>
            </a:r>
            <a:endParaRPr lang="en-US" sz="880" dirty="0"/>
          </a:p>
        </p:txBody>
      </p:sp>
      <p:sp>
        <p:nvSpPr>
          <p:cNvPr id="64" name="Text 62"/>
          <p:cNvSpPr/>
          <p:nvPr/>
        </p:nvSpPr>
        <p:spPr>
          <a:xfrm>
            <a:off x="7132320" y="40599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4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diagnostics + local PII redaction</a:t>
            </a:r>
            <a:endParaRPr lang="en-US" sz="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2075688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TECHNICAL ARCHITECTURE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Control Plane, AGT Gateway &amp; State Model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 SRE Agent tool request is authenticated, policy-checked, persisted, and audited in Azure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809744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554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SRE Agent for Intune  |  Agent-Azure-FarSight Governed Diagnostics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4855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/ 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207008"/>
            <a:ext cx="41148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207008"/>
            <a:ext cx="411480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353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Gateway-Mediated Tool Routing &amp; AGT Policy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1627632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Agent tools never call the Control API directly. Every request hits POST /tools/{tool_name} on the AGT Gateway.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640080" y="2029968"/>
            <a:ext cx="374904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2157984"/>
            <a:ext cx="841248" cy="237744"/>
          </a:xfrm>
          <a:prstGeom prst="roundRect">
            <a:avLst>
              <a:gd name="adj" fmla="val 23077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157984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ALLOW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664208" y="208483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read-only module in allowlist -&gt; Immediately creates Queued job in Control API.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" y="2596896"/>
            <a:ext cx="374904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2724912"/>
            <a:ext cx="841248" cy="237744"/>
          </a:xfrm>
          <a:prstGeom prst="roundRect">
            <a:avLst>
              <a:gd name="adj" fmla="val 2307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2724912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664208" y="26517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scope, large byte cap, or sensitive appId -&gt; Creates waiting_approval job + admin approval record.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" y="3163824"/>
            <a:ext cx="3749040" cy="49377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3291840"/>
            <a:ext cx="841248" cy="237744"/>
          </a:xfrm>
          <a:prstGeom prst="roundRect">
            <a:avLst>
              <a:gd name="adj" fmla="val 23077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291840"/>
            <a:ext cx="841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11D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DENY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664208" y="321868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Unlisted module, invalid parameters, or missing policy -&gt; Blocked at gateway; emits audit event.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40080" y="3822192"/>
            <a:ext cx="3749040" cy="676656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3858768"/>
            <a:ext cx="352958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Local Policy Fallback (Fail-Closed)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gateway dynamically fetches active policy from GET /api/v1/policies/{policyId} and evaluates context (task_type, risk_level, appId, max_bytes, time_window_hours). If the API is unreachable, the gateway fails closed.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4754880" y="1207008"/>
            <a:ext cx="393192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207008"/>
            <a:ext cx="3931920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3533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Cosmos DB NoSQL State Model (farsight DB)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37760" y="162763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purpose-built containers provide complete lifecycle &amp; audit traceability: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4937760" y="1920240"/>
            <a:ext cx="173736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92624" y="195681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devices</a:t>
            </a:r>
            <a:endParaRPr lang="en-US" sz="780" dirty="0"/>
          </a:p>
        </p:txBody>
      </p:sp>
      <p:sp>
        <p:nvSpPr>
          <p:cNvPr id="35" name="Text 33"/>
          <p:cNvSpPr/>
          <p:nvPr/>
        </p:nvSpPr>
        <p:spPr>
          <a:xfrm>
            <a:off x="5980176" y="19568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/tenantDeviceId</a:t>
            </a:r>
            <a:endParaRPr lang="en-US" sz="640" dirty="0"/>
          </a:p>
        </p:txBody>
      </p:sp>
      <p:sp>
        <p:nvSpPr>
          <p:cNvPr id="36" name="Text 34"/>
          <p:cNvSpPr/>
          <p:nvPr/>
        </p:nvSpPr>
        <p:spPr>
          <a:xfrm>
            <a:off x="4992624" y="2167128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 thumbprint, heartbeat, cadence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6748272" y="1920240"/>
            <a:ext cx="173736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03136" y="195681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7790688" y="1956816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/deviceId</a:t>
            </a:r>
            <a:endParaRPr lang="en-US" sz="640" dirty="0"/>
          </a:p>
        </p:txBody>
      </p:sp>
      <p:sp>
        <p:nvSpPr>
          <p:cNvPr id="40" name="Text 38"/>
          <p:cNvSpPr/>
          <p:nvPr/>
        </p:nvSpPr>
        <p:spPr>
          <a:xfrm>
            <a:off x="6803136" y="2167128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Status, taskType, lease, correlationId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4937760" y="2578608"/>
            <a:ext cx="173736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261518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approvals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5980176" y="2615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/approvalId</a:t>
            </a:r>
            <a:endParaRPr lang="en-US" sz="640" dirty="0"/>
          </a:p>
        </p:txBody>
      </p:sp>
      <p:sp>
        <p:nvSpPr>
          <p:cNvPr id="44" name="Text 42"/>
          <p:cNvSpPr/>
          <p:nvPr/>
        </p:nvSpPr>
        <p:spPr>
          <a:xfrm>
            <a:off x="4992624" y="2825496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level, requester, decision, expiry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6748272" y="2578608"/>
            <a:ext cx="173736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03136" y="261518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policies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7790688" y="2615184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/policyId</a:t>
            </a:r>
            <a:endParaRPr lang="en-US" sz="640" dirty="0"/>
          </a:p>
        </p:txBody>
      </p:sp>
      <p:sp>
        <p:nvSpPr>
          <p:cNvPr id="48" name="Text 46"/>
          <p:cNvSpPr/>
          <p:nvPr/>
        </p:nvSpPr>
        <p:spPr>
          <a:xfrm>
            <a:off x="6803136" y="2825496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Active/draft/archived AGT YAML versions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4937760" y="3236976"/>
            <a:ext cx="173736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92624" y="327355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manifests</a:t>
            </a:r>
            <a:endParaRPr lang="en-US" sz="780" dirty="0"/>
          </a:p>
        </p:txBody>
      </p:sp>
      <p:sp>
        <p:nvSpPr>
          <p:cNvPr id="51" name="Text 49"/>
          <p:cNvSpPr/>
          <p:nvPr/>
        </p:nvSpPr>
        <p:spPr>
          <a:xfrm>
            <a:off x="5980176" y="32735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/manifestId</a:t>
            </a:r>
            <a:endParaRPr lang="en-US" sz="640" dirty="0"/>
          </a:p>
        </p:txBody>
      </p:sp>
      <p:sp>
        <p:nvSpPr>
          <p:cNvPr id="52" name="Text 50"/>
          <p:cNvSpPr/>
          <p:nvPr/>
        </p:nvSpPr>
        <p:spPr>
          <a:xfrm>
            <a:off x="4992624" y="348386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versions, SHA256 hashes, schemas</a:t>
            </a:r>
            <a:endParaRPr lang="en-US" sz="760" dirty="0"/>
          </a:p>
        </p:txBody>
      </p:sp>
      <p:sp>
        <p:nvSpPr>
          <p:cNvPr id="53" name="Shape 51"/>
          <p:cNvSpPr/>
          <p:nvPr/>
        </p:nvSpPr>
        <p:spPr>
          <a:xfrm>
            <a:off x="6748272" y="3236976"/>
            <a:ext cx="173736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03136" y="327355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investigations</a:t>
            </a:r>
            <a:endParaRPr lang="en-US" sz="780" dirty="0"/>
          </a:p>
        </p:txBody>
      </p:sp>
      <p:sp>
        <p:nvSpPr>
          <p:cNvPr id="55" name="Text 53"/>
          <p:cNvSpPr/>
          <p:nvPr/>
        </p:nvSpPr>
        <p:spPr>
          <a:xfrm>
            <a:off x="7790688" y="32735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/incidentId</a:t>
            </a:r>
            <a:endParaRPr lang="en-US" sz="640" dirty="0"/>
          </a:p>
        </p:txBody>
      </p:sp>
      <p:sp>
        <p:nvSpPr>
          <p:cNvPr id="56" name="Text 54"/>
          <p:cNvSpPr/>
          <p:nvPr/>
        </p:nvSpPr>
        <p:spPr>
          <a:xfrm>
            <a:off x="6803136" y="348386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timeline, summary &amp; prior history</a:t>
            </a:r>
            <a:endParaRPr lang="en-US" sz="760" dirty="0"/>
          </a:p>
        </p:txBody>
      </p:sp>
      <p:sp>
        <p:nvSpPr>
          <p:cNvPr id="57" name="Shape 55"/>
          <p:cNvSpPr/>
          <p:nvPr/>
        </p:nvSpPr>
        <p:spPr>
          <a:xfrm>
            <a:off x="4937760" y="3895344"/>
            <a:ext cx="173736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92624" y="393192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artifactIndex</a:t>
            </a:r>
            <a:endParaRPr lang="en-US" sz="780" dirty="0"/>
          </a:p>
        </p:txBody>
      </p:sp>
      <p:sp>
        <p:nvSpPr>
          <p:cNvPr id="59" name="Text 57"/>
          <p:cNvSpPr/>
          <p:nvPr/>
        </p:nvSpPr>
        <p:spPr>
          <a:xfrm>
            <a:off x="5980176" y="39319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/jobId</a:t>
            </a:r>
            <a:endParaRPr lang="en-US" sz="640" dirty="0"/>
          </a:p>
        </p:txBody>
      </p:sp>
      <p:sp>
        <p:nvSpPr>
          <p:cNvPr id="60" name="Text 58"/>
          <p:cNvSpPr/>
          <p:nvPr/>
        </p:nvSpPr>
        <p:spPr>
          <a:xfrm>
            <a:off x="4992624" y="4142232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reference, SHA256, size &amp; MIME type</a:t>
            </a:r>
            <a:endParaRPr lang="en-US" sz="760" dirty="0"/>
          </a:p>
        </p:txBody>
      </p:sp>
      <p:sp>
        <p:nvSpPr>
          <p:cNvPr id="61" name="Shape 59"/>
          <p:cNvSpPr/>
          <p:nvPr/>
        </p:nvSpPr>
        <p:spPr>
          <a:xfrm>
            <a:off x="6748272" y="3895344"/>
            <a:ext cx="1737360" cy="58521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03136" y="393192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D28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auditEvents</a:t>
            </a:r>
            <a:endParaRPr lang="en-US" sz="780" dirty="0"/>
          </a:p>
        </p:txBody>
      </p:sp>
      <p:sp>
        <p:nvSpPr>
          <p:cNvPr id="63" name="Text 61"/>
          <p:cNvSpPr/>
          <p:nvPr/>
        </p:nvSpPr>
        <p:spPr>
          <a:xfrm>
            <a:off x="7790688" y="39319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/correlationId</a:t>
            </a:r>
            <a:endParaRPr lang="en-US" sz="640" dirty="0"/>
          </a:p>
        </p:txBody>
      </p:sp>
      <p:sp>
        <p:nvSpPr>
          <p:cNvPr id="64" name="Text 62"/>
          <p:cNvSpPr/>
          <p:nvPr/>
        </p:nvSpPr>
        <p:spPr>
          <a:xfrm>
            <a:off x="6803136" y="4142232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Entra App ID, decision, rule, time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2075688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2075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TECHNICAL ARCHITECTURE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Endpoint Collector Architecture &amp; Execution Flow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PowerShell 7 agent deployed to C:\ProgramData\&lt;Company&gt;\SreCollector and triggered by Windows Task Scheduler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809744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554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SRE Agent for Intune  |  Agent-Azure-FarSight Governed Diagnostics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4855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 / 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207008"/>
            <a:ext cx="3154680" cy="34564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207008"/>
            <a:ext cx="31546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35331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Endpoint Runtime Layout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1792" y="16093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C:\ProgramData\&lt;Company&gt;\SreCollector\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621792" y="1901952"/>
            <a:ext cx="28346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" y="1938528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371600" y="193852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config.json, module-manifest.json &amp; task intent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621792" y="2340864"/>
            <a:ext cx="28346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6656" y="2377440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modules/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1371600" y="2377440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Allowlisted PowerShell modules &amp; input schemas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621792" y="2779776"/>
            <a:ext cx="28346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2816352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state/</a:t>
            </a:r>
            <a:endParaRPr lang="en-US" sz="780" dirty="0"/>
          </a:p>
        </p:txBody>
      </p:sp>
      <p:sp>
        <p:nvSpPr>
          <p:cNvPr id="23" name="Text 21"/>
          <p:cNvSpPr/>
          <p:nvPr/>
        </p:nvSpPr>
        <p:spPr>
          <a:xfrm>
            <a:off x="1371600" y="2816352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collector.lock &amp; collector-state.json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621792" y="3218688"/>
            <a:ext cx="28346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3255264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logs/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371600" y="325526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operational logs (collector.ndjson)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621792" y="3657600"/>
            <a:ext cx="28346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3694176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artifacts/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1371600" y="3694176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staging folder for redacted ZIP/JSON</a:t>
            </a:r>
            <a:endParaRPr lang="en-US" sz="760" dirty="0"/>
          </a:p>
        </p:txBody>
      </p:sp>
      <p:sp>
        <p:nvSpPr>
          <p:cNvPr id="30" name="Shape 28"/>
          <p:cNvSpPr/>
          <p:nvPr/>
        </p:nvSpPr>
        <p:spPr>
          <a:xfrm>
            <a:off x="621792" y="4096512"/>
            <a:ext cx="2834640" cy="384048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" y="4133088"/>
            <a:ext cx="676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schemas/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1371600" y="4133088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envelope &amp; validation JSON schemas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3794760" y="1207008"/>
            <a:ext cx="48920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94760" y="1207008"/>
            <a:ext cx="489204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77640" y="135331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7-Step Deterministic Execution Sequence (collector.ps1)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3977640" y="1682496"/>
            <a:ext cx="4526280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69080" y="1719072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Acquire Lock</a:t>
            </a:r>
            <a:endParaRPr lang="en-US" sz="860" dirty="0"/>
          </a:p>
        </p:txBody>
      </p:sp>
      <p:sp>
        <p:nvSpPr>
          <p:cNvPr id="38" name="Text 36"/>
          <p:cNvSpPr/>
          <p:nvPr/>
        </p:nvSpPr>
        <p:spPr>
          <a:xfrm>
            <a:off x="5504688" y="1719072"/>
            <a:ext cx="2944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state/collector.lock so overlapping scheduled triggers exit cleanly.</a:t>
            </a:r>
            <a:endParaRPr lang="en-US" sz="820" dirty="0"/>
          </a:p>
        </p:txBody>
      </p:sp>
      <p:sp>
        <p:nvSpPr>
          <p:cNvPr id="39" name="Shape 37"/>
          <p:cNvSpPr/>
          <p:nvPr/>
        </p:nvSpPr>
        <p:spPr>
          <a:xfrm>
            <a:off x="3977640" y="2093976"/>
            <a:ext cx="45262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69080" y="2130552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Load &amp; Self-Check</a:t>
            </a:r>
            <a:endParaRPr lang="en-US" sz="860" dirty="0"/>
          </a:p>
        </p:txBody>
      </p:sp>
      <p:sp>
        <p:nvSpPr>
          <p:cNvPr id="41" name="Text 39"/>
          <p:cNvSpPr/>
          <p:nvPr/>
        </p:nvSpPr>
        <p:spPr>
          <a:xfrm>
            <a:off x="5504688" y="2130552"/>
            <a:ext cx="2944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config.json &amp; module-manifest.json; validates local folder structure &amp; cert.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3977640" y="2505456"/>
            <a:ext cx="4526280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69080" y="2542032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mTLS Check-In</a:t>
            </a:r>
            <a:endParaRPr lang="en-US" sz="860" dirty="0"/>
          </a:p>
        </p:txBody>
      </p:sp>
      <p:sp>
        <p:nvSpPr>
          <p:cNvPr id="44" name="Text 42"/>
          <p:cNvSpPr/>
          <p:nvPr/>
        </p:nvSpPr>
        <p:spPr>
          <a:xfrm>
            <a:off x="5504688" y="2542032"/>
            <a:ext cx="2944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POST /api/v1/devices/checkin with enrolled client certificate thumbprint.</a:t>
            </a:r>
            <a:endParaRPr lang="en-US" sz="820" dirty="0"/>
          </a:p>
        </p:txBody>
      </p:sp>
      <p:sp>
        <p:nvSpPr>
          <p:cNvPr id="45" name="Shape 43"/>
          <p:cNvSpPr/>
          <p:nvPr/>
        </p:nvSpPr>
        <p:spPr>
          <a:xfrm>
            <a:off x="3977640" y="2916936"/>
            <a:ext cx="45262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69080" y="2953512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Lease &amp; Dynamic Sync</a:t>
            </a:r>
            <a:endParaRPr lang="en-US" sz="860" dirty="0"/>
          </a:p>
        </p:txBody>
      </p:sp>
      <p:sp>
        <p:nvSpPr>
          <p:cNvPr id="47" name="Text 45"/>
          <p:cNvSpPr/>
          <p:nvPr/>
        </p:nvSpPr>
        <p:spPr>
          <a:xfrm>
            <a:off x="5504688" y="2953512"/>
            <a:ext cx="2944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Leases at most 1 job; applies remote checkInIntervalSeconds / task cadence.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3977640" y="3328416"/>
            <a:ext cx="4526280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69080" y="3364992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Local Security Gate</a:t>
            </a:r>
            <a:endParaRPr lang="en-US" sz="860" dirty="0"/>
          </a:p>
        </p:txBody>
      </p:sp>
      <p:sp>
        <p:nvSpPr>
          <p:cNvPr id="50" name="Text 48"/>
          <p:cNvSpPr/>
          <p:nvPr/>
        </p:nvSpPr>
        <p:spPr>
          <a:xfrm>
            <a:off x="5504688" y="3364992"/>
            <a:ext cx="2944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taskType in local manifest, blocks path traversal, checks SHA256 &amp; schema.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3977640" y="3739896"/>
            <a:ext cx="4526280" cy="35661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069080" y="3776472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Bounded Run &amp; Redact</a:t>
            </a:r>
            <a:endParaRPr lang="en-US" sz="860" dirty="0"/>
          </a:p>
        </p:txBody>
      </p:sp>
      <p:sp>
        <p:nvSpPr>
          <p:cNvPr id="53" name="Text 51"/>
          <p:cNvSpPr/>
          <p:nvPr/>
        </p:nvSpPr>
        <p:spPr>
          <a:xfrm>
            <a:off x="5504688" y="3776472"/>
            <a:ext cx="2944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read-only module with strict timeout; scrubs PII/secrets before staging.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3977640" y="4151376"/>
            <a:ext cx="4526280" cy="356616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069080" y="4187952"/>
            <a:ext cx="14173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Artifact &amp; Result Upload</a:t>
            </a:r>
            <a:endParaRPr lang="en-US" sz="860" dirty="0"/>
          </a:p>
        </p:txBody>
      </p:sp>
      <p:sp>
        <p:nvSpPr>
          <p:cNvPr id="56" name="Text 54"/>
          <p:cNvSpPr/>
          <p:nvPr/>
        </p:nvSpPr>
        <p:spPr>
          <a:xfrm>
            <a:off x="5504688" y="4187952"/>
            <a:ext cx="2944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ZIP via short-lived Blob SAS URL (or API proxy fallback) &amp; posts summary.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1861718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86171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END-TO-END WORKFLOW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Diagnostic Job Lifecycle &amp; Artifact Retrieval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job orchestration from SRE Agent request through human approval, endpoint lease, and local ZIP inspection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809744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554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SRE Agent for Intune  |  Agent-Azure-FarSight Governed Diagnostics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4855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/ 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207008"/>
            <a:ext cx="149961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207008"/>
            <a:ext cx="1499616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33502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create_diagnostic_job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30352" y="15727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Agent calls AGT Gateway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956816" y="1463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39696" y="1207008"/>
            <a:ext cx="149961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39696" y="1207008"/>
            <a:ext cx="1499616" cy="640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12848" y="133502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waiting_approval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12848" y="15727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+ Outlook alert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3639312" y="1463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22192" y="1207008"/>
            <a:ext cx="149961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22192" y="1207008"/>
            <a:ext cx="1499616" cy="640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95344" y="133502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Queued -&gt; Leased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895344" y="15727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checks in over mTLS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321808" y="1463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04688" y="1207008"/>
            <a:ext cx="149961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504688" y="1207008"/>
            <a:ext cx="1499616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133502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Running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577840" y="15727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SHA256 + schema verified run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004304" y="14630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187184" y="1207008"/>
            <a:ext cx="1499616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87184" y="1207008"/>
            <a:ext cx="1499616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0336" y="1335024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Succeeded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260336" y="1572768"/>
            <a:ext cx="1353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+ Artifact committed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57200" y="2176272"/>
            <a:ext cx="3977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2176272"/>
            <a:ext cx="64008" cy="246888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22860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Status-Aware Polling: monitor_farsight_job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40080" y="2578608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get_job_status loops with a single intelligent tool call right after job creation.</a:t>
            </a:r>
            <a:endParaRPr lang="en-US" sz="89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initial_delay_seconds (30s) aligned to collector check-in cadence.</a:t>
            </a:r>
            <a:endParaRPr lang="en-US" sz="89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dynamically: Queued (30s), Leased (20s), Running (15s) with module-tuned timeouts (180s-300s).</a:t>
            </a:r>
            <a:endParaRPr lang="en-US" sz="89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8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Non-Blocking Approval Handling: If status is waiting_approval, the agent stops synchronous waiting, schedules a background check, and notifies the requester via Outlook once completed.</a:t>
            </a:r>
            <a:endParaRPr lang="en-US" sz="890" dirty="0"/>
          </a:p>
        </p:txBody>
      </p:sp>
      <p:sp>
        <p:nvSpPr>
          <p:cNvPr id="39" name="Shape 37"/>
          <p:cNvSpPr/>
          <p:nvPr/>
        </p:nvSpPr>
        <p:spPr>
          <a:xfrm>
            <a:off x="4709160" y="2176272"/>
            <a:ext cx="39776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2176272"/>
            <a:ext cx="64008" cy="24688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2286000"/>
            <a:ext cx="3611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Artifact Inspection (JSON vs ZIP Flow)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892040" y="2542032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SRE Agent always inspects metadata first, then branches by content type: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892040" y="2798064"/>
            <a:ext cx="361188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83480" y="2834640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retrieve_artifact_metadata</a:t>
            </a:r>
            <a:endParaRPr lang="en-US" sz="830" dirty="0"/>
          </a:p>
        </p:txBody>
      </p:sp>
      <p:sp>
        <p:nvSpPr>
          <p:cNvPr id="45" name="Text 43"/>
          <p:cNvSpPr/>
          <p:nvPr/>
        </p:nvSpPr>
        <p:spPr>
          <a:xfrm>
            <a:off x="4983480" y="3008376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contentType, sizeBytes &amp; SHA256 hash before downloading.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892040" y="3310128"/>
            <a:ext cx="3611880" cy="43891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83480" y="3346704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2A. Plain Text / JSON (&lt;=256 KB)</a:t>
            </a:r>
            <a:endParaRPr lang="en-US" sz="830" dirty="0"/>
          </a:p>
        </p:txBody>
      </p:sp>
      <p:sp>
        <p:nvSpPr>
          <p:cNvPr id="48" name="Text 46"/>
          <p:cNvSpPr/>
          <p:nvPr/>
        </p:nvSpPr>
        <p:spPr>
          <a:xfrm>
            <a:off x="4983480" y="3520440"/>
            <a:ext cx="3429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retrieve_artifact_content(job_id, artifact_id) directly.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892040" y="3822192"/>
            <a:ext cx="3611880" cy="62179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83480" y="3858768"/>
            <a:ext cx="3429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2B. ZIP Bundle (Get-AppLogBundle)</a:t>
            </a:r>
            <a:endParaRPr lang="en-US" sz="830" dirty="0"/>
          </a:p>
        </p:txBody>
      </p:sp>
      <p:sp>
        <p:nvSpPr>
          <p:cNvPr id="51" name="Text 49"/>
          <p:cNvSpPr/>
          <p:nvPr/>
        </p:nvSpPr>
        <p:spPr>
          <a:xfrm>
            <a:off x="4983480" y="4032504"/>
            <a:ext cx="3429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2-step workspace flow: download_artifact_file saves ZIP to SRE sandbox -&gt; extract_zip_artifact_entry lists and extracts target logs locally.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2432304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24323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MODULES &amp; CUSTOM EXTENSIONS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V1 Diagnostic Module Catalog &amp; Extension Framework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read-only modules cover core SRE scenarios — and customers can extend FarSight with custom modules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809744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554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SRE Agent for Intune  |  Agent-Azure-FarSight Governed Diagnostics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4855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/ 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207008"/>
            <a:ext cx="516636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207008"/>
            <a:ext cx="516636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33502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Built-In V1 Diagnostic Modules (src/modules/)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664208"/>
          <a:ext cx="4864608" cy="914400"/>
        </p:xfrm>
        <a:graphic>
          <a:graphicData uri="http://schemas.openxmlformats.org/drawingml/2006/table">
            <a:tbl>
              <a:tblPr/>
              <a:tblGrid>
                <a:gridCol w="1664208"/>
                <a:gridCol w="1810512"/>
                <a:gridCol w="13898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Module ID</a:t>
                      </a:r>
                      <a:endParaRPr lang="en-US" sz="800" dirty="0"/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Diagnostic Capability</a:t>
                      </a:r>
                      <a:endParaRPr lang="en-US" sz="800" dirty="0"/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Key Bounded Inputs</a:t>
                      </a:r>
                      <a:endParaRPr lang="en-US" sz="800" dirty="0"/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Get-AppLogBundle</a:t>
                      </a:r>
                      <a:endParaRPr lang="en-US" sz="7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334155"/>
                          </a:solidFill>
                        </a:rPr>
                        <a:t>Redacted ZIP of custom app logs from approved folder</a:t>
                      </a:r>
                      <a:endParaRPr lang="en-US" sz="760" dirty="0"/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app_id, log_path_folder, tail_lines</a:t>
                      </a:r>
                      <a:endParaRPr lang="en-US" sz="6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Get-ServiceStatusSnapshot</a:t>
                      </a:r>
                      <a:endParaRPr lang="en-US" sz="7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334155"/>
                          </a:solidFill>
                        </a:rPr>
                        <a:t>Bounded Windows service inventory &amp; runtime status</a:t>
                      </a:r>
                      <a:endParaRPr lang="en-US" sz="760" dirty="0"/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service_names_csv, max_services</a:t>
                      </a:r>
                      <a:endParaRPr lang="en-US" sz="6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Get-AppEventSlice</a:t>
                      </a:r>
                      <a:endParaRPr lang="en-US" sz="7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334155"/>
                          </a:solidFill>
                        </a:rPr>
                        <a:t>Filtered Windows Event Log slice by provider/time</a:t>
                      </a:r>
                      <a:endParaRPr lang="en-US" sz="760" dirty="0"/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log_name, provider_names_csv, max_events</a:t>
                      </a:r>
                      <a:endParaRPr lang="en-US" sz="6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Get-AppHealthSnapshot</a:t>
                      </a:r>
                      <a:endParaRPr lang="en-US" sz="7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334155"/>
                          </a:solidFill>
                        </a:rPr>
                        <a:t>Service, process &amp; config health for an app profile</a:t>
                      </a:r>
                      <a:endParaRPr lang="en-US" sz="760" dirty="0"/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app_id, service_names_csv, process_names</a:t>
                      </a:r>
                      <a:endParaRPr lang="en-US" sz="6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Test-AppConnectivity</a:t>
                      </a:r>
                      <a:endParaRPr lang="en-US" sz="7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334155"/>
                          </a:solidFill>
                        </a:rPr>
                        <a:t>Live DNS, TCP port, TLS thumbprint &amp; HTTP checks</a:t>
                      </a:r>
                      <a:endParaRPr lang="en-US" sz="760" dirty="0"/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targets_csv, ports_csv, urls_csv</a:t>
                      </a:r>
                      <a:endParaRPr lang="en-US" sz="6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Get-ConfigEvidence</a:t>
                      </a:r>
                      <a:endParaRPr lang="en-US" sz="7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334155"/>
                          </a:solidFill>
                        </a:rPr>
                        <a:t>Allowlisted registry &amp; configuration file inspection</a:t>
                      </a:r>
                      <a:endParaRPr lang="en-US" sz="760" dirty="0"/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registry_profiles_csv, file_profiles_csv</a:t>
                      </a:r>
                      <a:endParaRPr lang="en-US" sz="6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065F4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Get-AppDiskEvidence</a:t>
                      </a:r>
                      <a:endParaRPr lang="en-US" sz="72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334155"/>
                          </a:solidFill>
                        </a:rPr>
                        <a:t>Extension sample: disk usage &amp; file sample check</a:t>
                      </a:r>
                      <a:endParaRPr lang="en-US" sz="760" dirty="0"/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disk_profile, max_file_samples</a:t>
                      </a:r>
                      <a:endParaRPr lang="en-US" sz="68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0800" marR="50800" marT="31750" marB="3175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760720" y="1207008"/>
            <a:ext cx="2926080" cy="34564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0" y="1207008"/>
            <a:ext cx="292608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25312" y="1353312"/>
            <a:ext cx="1920240" cy="201168"/>
          </a:xfrm>
          <a:prstGeom prst="roundRect">
            <a:avLst>
              <a:gd name="adj" fmla="val 27273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25312" y="13533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6EE7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 EXTENSIBILITY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5925312" y="16093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Add a Custom Extension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925312" y="1901952"/>
            <a:ext cx="2596896" cy="3931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98464" y="1938528"/>
            <a:ext cx="2450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JSON Input Schema</a:t>
            </a:r>
            <a:endParaRPr lang="en-US" sz="830" dirty="0"/>
          </a:p>
        </p:txBody>
      </p:sp>
      <p:sp>
        <p:nvSpPr>
          <p:cNvPr id="22" name="Text 19"/>
          <p:cNvSpPr/>
          <p:nvPr/>
        </p:nvSpPr>
        <p:spPr>
          <a:xfrm>
            <a:off x="5998464" y="210312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narrow enums &amp; bounds in input.schema.json.</a:t>
            </a:r>
            <a:endParaRPr lang="en-US" sz="740" dirty="0"/>
          </a:p>
        </p:txBody>
      </p:sp>
      <p:sp>
        <p:nvSpPr>
          <p:cNvPr id="23" name="Shape 20"/>
          <p:cNvSpPr/>
          <p:nvPr/>
        </p:nvSpPr>
        <p:spPr>
          <a:xfrm>
            <a:off x="5925312" y="2350008"/>
            <a:ext cx="2596896" cy="3931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98464" y="2386584"/>
            <a:ext cx="2450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Read-Only PowerShell</a:t>
            </a:r>
            <a:endParaRPr lang="en-US" sz="830" dirty="0"/>
          </a:p>
        </p:txBody>
      </p:sp>
      <p:sp>
        <p:nvSpPr>
          <p:cNvPr id="25" name="Text 22"/>
          <p:cNvSpPr/>
          <p:nvPr/>
        </p:nvSpPr>
        <p:spPr>
          <a:xfrm>
            <a:off x="5998464" y="2551176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allowlisted paths; emit result envelope.</a:t>
            </a:r>
            <a:endParaRPr lang="en-US" sz="740" dirty="0"/>
          </a:p>
        </p:txBody>
      </p:sp>
      <p:sp>
        <p:nvSpPr>
          <p:cNvPr id="26" name="Shape 23"/>
          <p:cNvSpPr/>
          <p:nvPr/>
        </p:nvSpPr>
        <p:spPr>
          <a:xfrm>
            <a:off x="5925312" y="2798064"/>
            <a:ext cx="2596896" cy="3931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98464" y="2834640"/>
            <a:ext cx="2450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Manifest &amp; SHA256</a:t>
            </a:r>
            <a:endParaRPr lang="en-US" sz="830" dirty="0"/>
          </a:p>
        </p:txBody>
      </p:sp>
      <p:sp>
        <p:nvSpPr>
          <p:cNvPr id="28" name="Text 25"/>
          <p:cNvSpPr/>
          <p:nvPr/>
        </p:nvSpPr>
        <p:spPr>
          <a:xfrm>
            <a:off x="5998464" y="2999232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risk tier, timeout, byte cap &amp; script SHA256.</a:t>
            </a:r>
            <a:endParaRPr lang="en-US" sz="740" dirty="0"/>
          </a:p>
        </p:txBody>
      </p:sp>
      <p:sp>
        <p:nvSpPr>
          <p:cNvPr id="29" name="Shape 26"/>
          <p:cNvSpPr/>
          <p:nvPr/>
        </p:nvSpPr>
        <p:spPr>
          <a:xfrm>
            <a:off x="5925312" y="3246120"/>
            <a:ext cx="2596896" cy="3931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98464" y="3282696"/>
            <a:ext cx="2450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Pester Test Suite</a:t>
            </a:r>
            <a:endParaRPr lang="en-US" sz="830" dirty="0"/>
          </a:p>
        </p:txBody>
      </p:sp>
      <p:sp>
        <p:nvSpPr>
          <p:cNvPr id="31" name="Text 28"/>
          <p:cNvSpPr/>
          <p:nvPr/>
        </p:nvSpPr>
        <p:spPr>
          <a:xfrm>
            <a:off x="5998464" y="3447288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schema rejection, redaction &amp; timeouts.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5925312" y="3694176"/>
            <a:ext cx="2596896" cy="3931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98464" y="3730752"/>
            <a:ext cx="2450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AGT Policy Rule</a:t>
            </a:r>
            <a:endParaRPr lang="en-US" sz="830" dirty="0"/>
          </a:p>
        </p:txBody>
      </p:sp>
      <p:sp>
        <p:nvSpPr>
          <p:cNvPr id="34" name="Text 31"/>
          <p:cNvSpPr/>
          <p:nvPr/>
        </p:nvSpPr>
        <p:spPr>
          <a:xfrm>
            <a:off x="5998464" y="3895344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allow / require_approval rules in YAML policy.</a:t>
            </a:r>
            <a:endParaRPr lang="en-US" sz="740" dirty="0"/>
          </a:p>
        </p:txBody>
      </p:sp>
      <p:sp>
        <p:nvSpPr>
          <p:cNvPr id="35" name="Shape 32"/>
          <p:cNvSpPr/>
          <p:nvPr/>
        </p:nvSpPr>
        <p:spPr>
          <a:xfrm>
            <a:off x="5925312" y="4142232"/>
            <a:ext cx="2596896" cy="393192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98464" y="4178808"/>
            <a:ext cx="2450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6. SRE Agent Tool</a:t>
            </a:r>
            <a:endParaRPr lang="en-US" sz="830" dirty="0"/>
          </a:p>
        </p:txBody>
      </p:sp>
      <p:sp>
        <p:nvSpPr>
          <p:cNvPr id="37" name="Text 34"/>
          <p:cNvSpPr/>
          <p:nvPr/>
        </p:nvSpPr>
        <p:spPr>
          <a:xfrm>
            <a:off x="5998464" y="434340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typed Python tool to create_diagnostic_job.</a:t>
            </a:r>
            <a:endParaRPr lang="en-US" sz="7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2218334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221833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ADMINISTRATOR EXPERIENCE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FarSight Admin Console: Governance &amp; Observability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 BFF web console protected by Entra ID Easy Auth and signed internal admin headers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809744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554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SRE Agent for Intune  |  Agent-Azure-FarSight Governed Diagnostics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4855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/ 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188720"/>
            <a:ext cx="822960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188720"/>
            <a:ext cx="8229600" cy="64008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298448"/>
            <a:ext cx="7863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spc="80" kern="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FARSIGHT ADMIN PORTAL  |  Entra ID Easy Auth + Admin Group RBAC + HMAC-Signed BFF Mutations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640080" y="1554480"/>
            <a:ext cx="1865376" cy="786384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1627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Repository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49808" y="1874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Monaco YAML Editor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-&gt; Validate -&gt; Activate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2633472" y="1554480"/>
            <a:ext cx="1865376" cy="786384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1627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Approvals Queue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1874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waiting_approval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-&gt; Queued / Deny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626864" y="1554480"/>
            <a:ext cx="1865376" cy="786384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627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Diagnostic Jobs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36592" y="1874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job state &amp; summary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ZIP Download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620256" y="1554480"/>
            <a:ext cx="1865376" cy="786384"/>
          </a:xfrm>
          <a:prstGeom prst="rect">
            <a:avLst/>
          </a:prstGeom>
          <a:solidFill>
            <a:srgbClr val="1E293B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9984" y="16276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AGT Tool Telemetry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729984" y="18745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/ 7d / 30d / All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Allow/Deny &amp; Actor App ID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457200" y="2596896"/>
            <a:ext cx="402336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2596896"/>
            <a:ext cx="64008" cy="9692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1792" y="2670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Live AGT Policy Repository</a:t>
            </a: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621792" y="290779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farsight-tool-policy YAML in-browser via Monaco editor.</a:t>
            </a:r>
            <a:endParaRPr lang="en-US" sz="79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lifecycle: save drafts, validate syntax/rules &amp; activate.</a:t>
            </a:r>
            <a:endParaRPr lang="en-US" sz="79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rollback to previous version if a rule blocks valid jobs.</a:t>
            </a:r>
            <a:endParaRPr lang="en-US" sz="790" dirty="0"/>
          </a:p>
        </p:txBody>
      </p:sp>
      <p:sp>
        <p:nvSpPr>
          <p:cNvPr id="30" name="Shape 28"/>
          <p:cNvSpPr/>
          <p:nvPr/>
        </p:nvSpPr>
        <p:spPr>
          <a:xfrm>
            <a:off x="4663440" y="2596896"/>
            <a:ext cx="402336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2596896"/>
            <a:ext cx="64008" cy="9692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67004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Human-in-the-Loop Approvals</a:t>
            </a:r>
            <a:endParaRPr lang="en-US" sz="1020" dirty="0"/>
          </a:p>
        </p:txBody>
      </p:sp>
      <p:sp>
        <p:nvSpPr>
          <p:cNvPr id="33" name="Text 31"/>
          <p:cNvSpPr/>
          <p:nvPr/>
        </p:nvSpPr>
        <p:spPr>
          <a:xfrm>
            <a:off x="4828032" y="2907792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target device, module, risk level, requester &amp; reason.</a:t>
            </a:r>
            <a:endParaRPr lang="en-US" sz="79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releases waiting_approval jobs to Queued for check-in.</a:t>
            </a:r>
            <a:endParaRPr lang="en-US" sz="79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cancels linked jobs; SRE Agent notifies requester via Outlook.</a:t>
            </a:r>
            <a:endParaRPr lang="en-US" sz="790" dirty="0"/>
          </a:p>
        </p:txBody>
      </p:sp>
      <p:sp>
        <p:nvSpPr>
          <p:cNvPr id="34" name="Shape 32"/>
          <p:cNvSpPr/>
          <p:nvPr/>
        </p:nvSpPr>
        <p:spPr>
          <a:xfrm>
            <a:off x="457200" y="3657600"/>
            <a:ext cx="402336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657600"/>
            <a:ext cx="64008" cy="9692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3730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Job &amp; Artifact Inspection</a:t>
            </a:r>
            <a:endParaRPr lang="en-US" sz="1020" dirty="0"/>
          </a:p>
        </p:txBody>
      </p:sp>
      <p:sp>
        <p:nvSpPr>
          <p:cNvPr id="37" name="Text 35"/>
          <p:cNvSpPr/>
          <p:nvPr/>
        </p:nvSpPr>
        <p:spPr>
          <a:xfrm>
            <a:off x="621792" y="3968496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all diagnostic jobs, result summaries &amp; error envelopes.</a:t>
            </a:r>
            <a:endParaRPr lang="en-US" sz="79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binary ZIP download (up to 50 MB) via signed BFF route.</a:t>
            </a:r>
            <a:endParaRPr lang="en-US" sz="79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Preserves original filename and verifies SHA256 hash integrity.</a:t>
            </a:r>
            <a:endParaRPr lang="en-US" sz="790" dirty="0"/>
          </a:p>
        </p:txBody>
      </p:sp>
      <p:sp>
        <p:nvSpPr>
          <p:cNvPr id="38" name="Shape 36"/>
          <p:cNvSpPr/>
          <p:nvPr/>
        </p:nvSpPr>
        <p:spPr>
          <a:xfrm>
            <a:off x="4663440" y="3657600"/>
            <a:ext cx="402336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63440" y="3657600"/>
            <a:ext cx="64008" cy="969264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28032" y="37307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AGT Gateway Activity &amp; Audit</a:t>
            </a:r>
            <a:endParaRPr lang="en-US" sz="1020" dirty="0"/>
          </a:p>
        </p:txBody>
      </p:sp>
      <p:sp>
        <p:nvSpPr>
          <p:cNvPr id="41" name="Text 39"/>
          <p:cNvSpPr/>
          <p:nvPr/>
        </p:nvSpPr>
        <p:spPr>
          <a:xfrm>
            <a:off x="4828032" y="3968496"/>
            <a:ext cx="376732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tool calls across 24h, 7d, 30d, or All time windows.</a:t>
            </a:r>
            <a:endParaRPr lang="en-US" sz="79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Allowed, Denied, Approval Required &amp; Failed counts.</a:t>
            </a:r>
            <a:endParaRPr lang="en-US" sz="79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79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Actor App ID (Entra client ID) from module appId.</a:t>
            </a:r>
            <a:endParaRPr lang="en-US" sz="79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2147011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214701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7. ENDPOINT ADMINISTRATION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Intune Rollout, PKI Provisioning &amp; Drift Remediation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Streamlined packaging and zero-touch lifecycle management using native Microsoft Intune workflows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809744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554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SRE Agent for Intune  |  Agent-Azure-FarSight Governed Diagnostics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4855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/ 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207008"/>
            <a:ext cx="2596896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207008"/>
            <a:ext cx="2596896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" y="1371600"/>
            <a:ext cx="256032" cy="25603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1371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868" dirty="0"/>
          </a:p>
        </p:txBody>
      </p:sp>
      <p:sp>
        <p:nvSpPr>
          <p:cNvPr id="15" name="Text 13"/>
          <p:cNvSpPr/>
          <p:nvPr/>
        </p:nvSpPr>
        <p:spPr>
          <a:xfrm>
            <a:off x="914400" y="137160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Automated .intunewin Builder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03504" y="1719072"/>
            <a:ext cx="23408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scripts/build-collector-intunewin.py</a:t>
            </a:r>
            <a:endParaRPr lang="en-US" sz="8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for company name &amp; stamps install root + task name</a:t>
            </a:r>
            <a:endParaRPr lang="en-US" sz="8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collector.ps1, bootstrap.ps1, repair.ps1, config &amp; modules</a:t>
            </a:r>
            <a:endParaRPr lang="en-US" sz="8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Invokes IntuneWinAppUtil.exe with -NoProfile SYSTEM command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73552" y="1207008"/>
            <a:ext cx="2596896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73552" y="1207008"/>
            <a:ext cx="2596896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19856" y="1371600"/>
            <a:ext cx="256032" cy="25603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19856" y="1371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868" dirty="0"/>
          </a:p>
        </p:txBody>
      </p:sp>
      <p:sp>
        <p:nvSpPr>
          <p:cNvPr id="21" name="Text 19"/>
          <p:cNvSpPr/>
          <p:nvPr/>
        </p:nvSpPr>
        <p:spPr>
          <a:xfrm>
            <a:off x="3730752" y="137160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PKI / mTLS Identity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3419856" y="1719072"/>
            <a:ext cx="23408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client certs via Intune Cloud PKI, SCEP, or PKCS</a:t>
            </a:r>
            <a:endParaRPr lang="en-US" sz="8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certificate CN/Subject to Entra or Intune Device ID</a:t>
            </a:r>
            <a:endParaRPr lang="en-US" sz="8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script resolves per-device thumbprint at bootstrap</a:t>
            </a:r>
            <a:endParaRPr lang="en-US" sz="8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enforces chain, expiry, revocation &amp; tenant binding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89904" y="1207008"/>
            <a:ext cx="2596896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9904" y="1207008"/>
            <a:ext cx="2596896" cy="640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36208" y="1371600"/>
            <a:ext cx="256032" cy="25603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36208" y="13716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68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868" dirty="0"/>
          </a:p>
        </p:txBody>
      </p:sp>
      <p:sp>
        <p:nvSpPr>
          <p:cNvPr id="27" name="Text 25"/>
          <p:cNvSpPr/>
          <p:nvPr/>
        </p:nvSpPr>
        <p:spPr>
          <a:xfrm>
            <a:off x="6547104" y="1371600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Ring Rollout &amp; Drift Repair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6236208" y="1719072"/>
            <a:ext cx="234086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Ring 0 (Lab) -&gt; Ring 1 (IT Pilot) -&gt; Ring 2 (Prod)</a:t>
            </a:r>
            <a:endParaRPr lang="en-US" sz="8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script (intune-collector-detection.ps1) verifies state</a:t>
            </a:r>
            <a:endParaRPr lang="en-US" sz="8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Remediations run healthcheck.ps1 &amp; repair.ps1</a:t>
            </a:r>
            <a:endParaRPr lang="en-US" sz="8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8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config dynamically adjusts check-in cadence in place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566160"/>
            <a:ext cx="64008" cy="1097280"/>
          </a:xfrm>
          <a:prstGeom prst="rect">
            <a:avLst/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36576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Turnkey Cloud Provisioning with Azure Developer CLI (azd)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58368" y="3913632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the FarSight Control Plane (root azure.yaml) and the Azure SRE Agent package (src/sre-agent/agent/azure.yaml) deploy via modular Bicep templates with private networking support. Post-deploy hooks automatically upload knowledge files, skills, and Python tools.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5376672" y="3675888"/>
            <a:ext cx="3182112" cy="877824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0" y="3730752"/>
            <a:ext cx="29992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4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azd auth login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azd env new prod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azd env set AZURE_COLLECTOR_LOCATION italynorth</a:t>
            </a:r>
            <a:endParaRPr lang="en-US" sz="740" dirty="0"/>
          </a:p>
          <a:p>
            <a:pPr indent="0" marL="0">
              <a:buNone/>
            </a:pPr>
            <a:r>
              <a:rPr lang="en-US" sz="74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azd provision &amp;&amp; azd deploy</a:t>
            </a:r>
            <a:endParaRPr lang="en-US" sz="7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1719072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71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8. CUSTOMER SCENARIO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End-to-End Walkthrough: Resolving an Enterprise Incident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an operator resolves a critical line-of-business app outage on WIN-FINANCE-042 in minutes without remote desktop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809744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554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SRE Agent for Intune  |  Agent-Azure-FarSight Governed Diagnostics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4855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 / 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344168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344168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+ 00:00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536192" y="1207008"/>
            <a:ext cx="715060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536192" y="1207008"/>
            <a:ext cx="64008" cy="62179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00784" y="1261872"/>
            <a:ext cx="1508760" cy="18288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00784" y="12618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SRE OPERATOR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3291840" y="12527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Symptom Reported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1700784" y="147218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user reports Contoso ERP freezes at startup on WIN-FINANCE-042. Operator prompts Azure SRE Agent: "Diagnose WIN-FINANCE-042 and check why Contoso ERP is failing."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457200" y="2039112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039112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+ 00:12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536192" y="1901952"/>
            <a:ext cx="715060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536192" y="1901952"/>
            <a:ext cx="64008" cy="6217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00784" y="1956816"/>
            <a:ext cx="1508760" cy="18288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00784" y="195681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1: INTUNE-COLLECTOR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3291840" y="19476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Graph Triage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1700784" y="21671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runs intune_diagnostics_tool. Finds device compliant &amp; BitLocker healthy, but Endpoint Analytics shows 6 ContosoERP.exe crashes in 24h and low disk free space (7%).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57200" y="2734056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734056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+ 00:25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536192" y="2596896"/>
            <a:ext cx="715060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536192" y="2596896"/>
            <a:ext cx="64008" cy="6217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00784" y="2651760"/>
            <a:ext cx="1508760" cy="18288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700784" y="265176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2: AGT + FARSIGHT</a:t>
            </a:r>
            <a:endParaRPr lang="en-US" sz="720" dirty="0"/>
          </a:p>
        </p:txBody>
      </p:sp>
      <p:sp>
        <p:nvSpPr>
          <p:cNvPr id="33" name="Text 31"/>
          <p:cNvSpPr/>
          <p:nvPr/>
        </p:nvSpPr>
        <p:spPr>
          <a:xfrm>
            <a:off x="3291840" y="2642616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Governed Endpoint Job Created</a:t>
            </a:r>
            <a:endParaRPr lang="en-US" sz="1020" dirty="0"/>
          </a:p>
        </p:txBody>
      </p:sp>
      <p:sp>
        <p:nvSpPr>
          <p:cNvPr id="34" name="Text 32"/>
          <p:cNvSpPr/>
          <p:nvPr/>
        </p:nvSpPr>
        <p:spPr>
          <a:xfrm>
            <a:off x="1700784" y="286207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confirm why ContosoERP crashes, Agent calls create_diagnostic_job (Get-AppLogBundle &amp; Get-ServiceStatusSnapshot) and invokes monitor_farsight_job.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457200" y="3429000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42900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+ 01:40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1536192" y="3291840"/>
            <a:ext cx="715060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536192" y="3291840"/>
            <a:ext cx="64008" cy="6217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00784" y="3346704"/>
            <a:ext cx="1508760" cy="18288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00784" y="334670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ENDPOINT COLLECTOR</a:t>
            </a:r>
            <a:endParaRPr lang="en-US" sz="720" dirty="0"/>
          </a:p>
        </p:txBody>
      </p:sp>
      <p:sp>
        <p:nvSpPr>
          <p:cNvPr id="41" name="Text 39"/>
          <p:cNvSpPr/>
          <p:nvPr/>
        </p:nvSpPr>
        <p:spPr>
          <a:xfrm>
            <a:off x="3291840" y="333756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Read-Only Collection &amp; Redaction</a:t>
            </a:r>
            <a:endParaRPr lang="en-US" sz="1020" dirty="0"/>
          </a:p>
        </p:txBody>
      </p:sp>
      <p:sp>
        <p:nvSpPr>
          <p:cNvPr id="42" name="Text 40"/>
          <p:cNvSpPr/>
          <p:nvPr/>
        </p:nvSpPr>
        <p:spPr>
          <a:xfrm>
            <a:off x="1700784" y="35570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WIN-FINANCE-042 checks in over mTLS, validates SHA256 &amp; schema, tails last 2,000 log lines from C:\ProgramData\Contoso\Logs, redacts usernames/tokens, and uploads ZIP.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457200" y="4123944"/>
            <a:ext cx="960120" cy="347472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123944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+ 02:10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536192" y="3986784"/>
            <a:ext cx="715060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536192" y="3986784"/>
            <a:ext cx="64008" cy="62179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00784" y="4041648"/>
            <a:ext cx="1508760" cy="182880"/>
          </a:xfrm>
          <a:prstGeom prst="roundRect">
            <a:avLst>
              <a:gd name="adj" fmla="val 3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700784" y="404164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D28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AZURE SRE AGENT</a:t>
            </a:r>
            <a:endParaRPr lang="en-US" sz="720" dirty="0"/>
          </a:p>
        </p:txBody>
      </p:sp>
      <p:sp>
        <p:nvSpPr>
          <p:cNvPr id="49" name="Text 47"/>
          <p:cNvSpPr/>
          <p:nvPr/>
        </p:nvSpPr>
        <p:spPr>
          <a:xfrm>
            <a:off x="3291840" y="4032504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Cause Confirmed &amp; Action Plan</a:t>
            </a:r>
            <a:endParaRPr lang="en-US" sz="1020" dirty="0"/>
          </a:p>
        </p:txBody>
      </p:sp>
      <p:sp>
        <p:nvSpPr>
          <p:cNvPr id="50" name="Text 48"/>
          <p:cNvSpPr/>
          <p:nvPr/>
        </p:nvSpPr>
        <p:spPr>
          <a:xfrm>
            <a:off x="1700784" y="42519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downloads &amp; extracts ZIP locally, identifies TLS certificate thumbprint mismatch on local ERP gateway service, and outputs prioritized remediation steps for Intune.</a:t>
            </a:r>
            <a:endParaRPr lang="en-US" sz="8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01168"/>
            <a:ext cx="1790395" cy="219456"/>
          </a:xfrm>
          <a:prstGeom prst="roundRect">
            <a:avLst>
              <a:gd name="adj" fmla="val 25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01168"/>
            <a:ext cx="17903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spc="80" kern="0" dirty="0">
                <a:solidFill>
                  <a:srgbClr val="1D4E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9. VALUE &amp; NEXT STEPS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 Operational Impact &amp; Adoption Roadmap</a:t>
            </a:r>
            <a:endParaRPr lang="en-US" sz="2150" dirty="0"/>
          </a:p>
        </p:txBody>
      </p:sp>
      <p:sp>
        <p:nvSpPr>
          <p:cNvPr id="7" name="Text 5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MTTR while strengthening endpoint security posture with a phased, low-risk rollout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4809744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5546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SRE Agent for Intune  |  Agent-Azure-FarSight Governed Diagnostics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0" y="48554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 / 17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7200" y="1207008"/>
            <a:ext cx="502920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207008"/>
            <a:ext cx="502920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335024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Transformation: Before vs. With FarSight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" y="1682496"/>
          <a:ext cx="470916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737360"/>
                <a:gridCol w="1828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Dimension</a:t>
                      </a:r>
                      <a:endParaRPr lang="en-US" sz="8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11D48"/>
                          </a:solidFill>
                        </a:rPr>
                        <a:t>Traditional Intune Ops</a:t>
                      </a:r>
                      <a:endParaRPr lang="en-US" sz="8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4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5F46"/>
                          </a:solidFill>
                        </a:rPr>
                        <a:t>SRE Agent + FarSight</a:t>
                      </a:r>
                      <a:endParaRPr lang="en-US" sz="85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172A"/>
                          </a:solidFill>
                        </a:rPr>
                        <a:t>First-Pass Triage</a:t>
                      </a:r>
                      <a:endParaRPr lang="en-US" sz="82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Manual clicks across 6+ Intune &amp; Entra blades</a:t>
                      </a:r>
                      <a:endParaRPr lang="en-US" sz="8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65F46"/>
                          </a:solidFill>
                        </a:rPr>
                        <a:t>Automated 15-sec synthesis via intune-collector</a:t>
                      </a:r>
                      <a:endParaRPr lang="en-US" sz="8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172A"/>
                          </a:solidFill>
                        </a:rPr>
                        <a:t>Deep Endpoint Evidence</a:t>
                      </a:r>
                      <a:endParaRPr lang="en-US" sz="82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Screen-sharing session or ad-hoc PowerShell script</a:t>
                      </a:r>
                      <a:endParaRPr lang="en-US" sz="8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65F46"/>
                          </a:solidFill>
                        </a:rPr>
                        <a:t>Zero-interrupt brokered modules (logs, events, state)</a:t>
                      </a:r>
                      <a:endParaRPr lang="en-US" sz="8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172A"/>
                          </a:solidFill>
                        </a:rPr>
                        <a:t>Endpoint Attack Surface</a:t>
                      </a:r>
                      <a:endParaRPr lang="en-US" sz="82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WinRM / remote shells / high-privilege scripts</a:t>
                      </a:r>
                      <a:endParaRPr lang="en-US" sz="8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65F46"/>
                          </a:solidFill>
                        </a:rPr>
                        <a:t>Zero inbound ports; outbound mTLS + SHA256 allowlist</a:t>
                      </a:r>
                      <a:endParaRPr lang="en-US" sz="8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172A"/>
                          </a:solidFill>
                        </a:rPr>
                        <a:t>Governance &amp; Privacy</a:t>
                      </a:r>
                      <a:endParaRPr lang="en-US" sz="82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Raw unredacted logs shared in ticket attachments</a:t>
                      </a:r>
                      <a:endParaRPr lang="en-US" sz="8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65F46"/>
                          </a:solidFill>
                        </a:rPr>
                        <a:t>AGT policy gates, human approvals &amp; local PII redaction</a:t>
                      </a:r>
                      <a:endParaRPr lang="en-US" sz="8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172A"/>
                          </a:solidFill>
                        </a:rPr>
                        <a:t>Audit &amp; Replayability</a:t>
                      </a:r>
                      <a:endParaRPr lang="en-US" sz="82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34155"/>
                          </a:solidFill>
                        </a:rPr>
                        <a:t>Ephemeral console checks lost after ticket closes</a:t>
                      </a:r>
                      <a:endParaRPr lang="en-US" sz="8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65F46"/>
                          </a:solidFill>
                        </a:rPr>
                        <a:t>Durable Cosmos DB jobs, artifacts &amp; KQL telemetry</a:t>
                      </a:r>
                      <a:endParaRPr lang="en-US" sz="800" dirty="0"/>
                    </a:p>
                  </a:txBody>
                  <a:tcPr marL="63500" marR="63500" marT="50800" marB="508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669280" y="1207008"/>
            <a:ext cx="3017520" cy="3456432"/>
          </a:xfrm>
          <a:prstGeom prst="rect">
            <a:avLst/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76200" dist="25400" dir="8100000">
              <a:srgbClr val="0F172A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1207008"/>
            <a:ext cx="3017520" cy="640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852160" y="1353312"/>
            <a:ext cx="1920240" cy="201168"/>
          </a:xfrm>
          <a:prstGeom prst="roundRect">
            <a:avLst>
              <a:gd name="adj" fmla="val 27273"/>
            </a:avLst>
          </a:prstGeom>
          <a:solidFill>
            <a:srgbClr val="064E3B"/>
          </a:solidFill>
          <a:ln w="12700">
            <a:solidFill>
              <a:srgbClr val="064E3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52160" y="135331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6EE7B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ADOPTION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5852160" y="16093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3-Step Customer Rollout Plan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852160" y="1938528"/>
            <a:ext cx="2651760" cy="7863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52160" y="1938528"/>
            <a:ext cx="64008" cy="78638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89320" y="1993392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60" kern="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DAY 1 VALUE (CLOUD ONLY)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5989320" y="2148840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 SRE Agent + intune-collector</a:t>
            </a:r>
            <a:endParaRPr lang="en-US" sz="980" dirty="0"/>
          </a:p>
        </p:txBody>
      </p:sp>
      <p:sp>
        <p:nvSpPr>
          <p:cNvPr id="24" name="Text 21"/>
          <p:cNvSpPr/>
          <p:nvPr/>
        </p:nvSpPr>
        <p:spPr>
          <a:xfrm>
            <a:off x="5989320" y="2340864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read-only Graph permissions. Diagnose compliance, boot/login scores &amp; app crashes immediately with zero endpoint changes.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852160" y="2816352"/>
            <a:ext cx="2651760" cy="7863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852160" y="2816352"/>
            <a:ext cx="64008" cy="7863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989320" y="2871216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60" kern="0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PILOT RING (FARSIGHT V1)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5989320" y="3026664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Provision Control Plane &amp; Ring 0/1</a:t>
            </a:r>
            <a:endParaRPr lang="en-US" sz="980" dirty="0"/>
          </a:p>
        </p:txBody>
      </p:sp>
      <p:sp>
        <p:nvSpPr>
          <p:cNvPr id="29" name="Text 26"/>
          <p:cNvSpPr/>
          <p:nvPr/>
        </p:nvSpPr>
        <p:spPr>
          <a:xfrm>
            <a:off x="5989320" y="3218688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FarSight via azd up. Roll out the .intunewin collector to pilot devices with built-in read-only modules &amp; AGT policy.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5852160" y="3694176"/>
            <a:ext cx="2651760" cy="7863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852160" y="3694176"/>
            <a:ext cx="64008" cy="7863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989320" y="3749040"/>
            <a:ext cx="24505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spc="60" kern="0" dirty="0">
                <a:solidFill>
                  <a:srgbClr val="D9770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3: CUSTOM EXTENSIONS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5989320" y="3904488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Onboard Customer LOB Modules</a:t>
            </a:r>
            <a:endParaRPr lang="en-US" sz="980" dirty="0"/>
          </a:p>
        </p:txBody>
      </p:sp>
      <p:sp>
        <p:nvSpPr>
          <p:cNvPr id="34" name="Text 31"/>
          <p:cNvSpPr/>
          <p:nvPr/>
        </p:nvSpPr>
        <p:spPr>
          <a:xfrm>
            <a:off x="5989320" y="409651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custom diagnostic modules and agent tools for proprietary enterprise apps with tailored approval workflows.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Enterprise Endpoint Reliability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Endpoint Operations: Azure SRE Agent for Intune &amp; FarSight</dc:title>
  <dc:subject>Azure SRE Agent for Intune &amp; Agent-Azure-FarSight Architecture Pitch</dc:subject>
  <dc:creator>Agent-Azure-FarSight Team</dc:creator>
  <cp:lastModifiedBy>Agent-Azure-FarSight Team</cp:lastModifiedBy>
  <cp:revision>1</cp:revision>
  <dcterms:created xsi:type="dcterms:W3CDTF">2026-10-22T17:43:28Z</dcterms:created>
  <dcterms:modified xsi:type="dcterms:W3CDTF">2026-10-22T17:43:28Z</dcterms:modified>
</cp:coreProperties>
</file>