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914400"/>
            <a:ext cx="4846320" cy="8046720"/>
          </a:xfrm>
          <a:prstGeom prst="arc">
            <a:avLst/>
          </a:prstGeom>
          <a:solidFill>
            <a:srgbClr val="004E8C"/>
          </a:solidFill>
          <a:ln w="12700">
            <a:solidFill>
              <a:srgbClr val="004E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640080"/>
            <a:ext cx="3840480" cy="512064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372600" y="1965960"/>
            <a:ext cx="2194560" cy="2468880"/>
          </a:xfrm>
          <a:prstGeom prst="ellipse">
            <a:avLst/>
          </a:prstGeom>
          <a:solidFill>
            <a:srgbClr val="00BCF2"/>
          </a:solidFill>
          <a:ln w="12700">
            <a:solidFill>
              <a:srgbClr val="00BC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603504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0BCF2"/>
          </a:solidFill>
          <a:ln w="12700">
            <a:solidFill>
              <a:srgbClr val="00BC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676656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814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V1 PLAN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85800" y="1344168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Agent-Azure-FarSight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13232" y="199339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D5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remote diagnostics for Intune-managed Windows clients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7889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Brokered collection. No remote shell. Azure SRE Agent integration. Deterministic AGT governance.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713232" y="4069080"/>
            <a:ext cx="1920240" cy="1051560"/>
          </a:xfrm>
          <a:prstGeom prst="rect">
            <a:avLst>
              <a:gd name="adj" fmla="val 6957"/>
            </a:avLst>
          </a:prstGeom>
          <a:solidFill>
            <a:srgbClr val="152B58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" y="4069080"/>
            <a:ext cx="73152" cy="1051560"/>
          </a:xfrm>
          <a:prstGeom prst="rect">
            <a:avLst>
              <a:gd name="adj" fmla="val 100000"/>
            </a:avLst>
          </a:prstGeom>
          <a:solidFill>
            <a:srgbClr val="00BCF2"/>
          </a:solidFill>
          <a:ln w="12700">
            <a:solidFill>
              <a:srgbClr val="00BC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3544" y="42245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BC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23544" y="462686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5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inbound endpoint ports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2788920" y="4069080"/>
            <a:ext cx="1920240" cy="1051560"/>
          </a:xfrm>
          <a:prstGeom prst="rect">
            <a:avLst>
              <a:gd name="adj" fmla="val 6957"/>
            </a:avLst>
          </a:prstGeom>
          <a:solidFill>
            <a:srgbClr val="152B58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88920" y="4069080"/>
            <a:ext cx="73152" cy="105156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99232" y="4224528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999232" y="462686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5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 diagnostic modules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4864608" y="4069080"/>
            <a:ext cx="2103120" cy="1051560"/>
          </a:xfrm>
          <a:prstGeom prst="rect">
            <a:avLst>
              <a:gd name="adj" fmla="val 6957"/>
            </a:avLst>
          </a:prstGeom>
          <a:solidFill>
            <a:srgbClr val="152B58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64608" y="4069080"/>
            <a:ext cx="73152" cy="1051560"/>
          </a:xfrm>
          <a:prstGeom prst="rect">
            <a:avLst>
              <a:gd name="adj" fmla="val 10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74920" y="4224528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074920" y="4626864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D5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purpose-specific Azure regions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713232" y="606247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B4CD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2026-06-12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OVERVIEW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FarSight gives SRE teams governed, application-aware evidence from Windows clients without opening a remote-control channel.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594360" y="1417320"/>
            <a:ext cx="3429000" cy="43891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417320"/>
            <a:ext cx="73152" cy="4389120"/>
          </a:xfrm>
          <a:prstGeom prst="rect">
            <a:avLst>
              <a:gd name="adj" fmla="val 100000"/>
            </a:avLst>
          </a:prstGeom>
          <a:solidFill>
            <a:srgbClr val="C42B1C"/>
          </a:solidFill>
          <a:ln w="12700">
            <a:solidFill>
              <a:srgbClr val="C42B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545336"/>
            <a:ext cx="31181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C42B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gap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758952" y="1920240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Intune diagnostics are valuable but generic.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758952" y="2203704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SREs need targeted app logs, events, config, and connectivity evidence.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58952" y="2487168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Remote shell patterns are too risky for enterprise endpoints.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389120" y="1417320"/>
            <a:ext cx="3429000" cy="4389120"/>
          </a:xfrm>
          <a:prstGeom prst="roundRect">
            <a:avLst>
              <a:gd name="adj" fmla="val 2133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89120" y="1417320"/>
            <a:ext cx="73152" cy="438912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12" y="1545336"/>
            <a:ext cx="31181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system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4553712" y="1920240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Intune-deployed PowerShell collector.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553712" y="2203704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HTTPS control API backed by Cosmos DB and Blob Storage.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53712" y="2487168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SRE Agent uses governed FarSight tools, not endpoint access.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183880" y="1417320"/>
            <a:ext cx="3429000" cy="4389120"/>
          </a:xfrm>
          <a:prstGeom prst="roundRect">
            <a:avLst>
              <a:gd name="adj" fmla="val 2133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83880" y="1417320"/>
            <a:ext cx="73152" cy="438912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8472" y="1545336"/>
            <a:ext cx="31181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8348472" y="1920240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Auditable diagnostic jobs.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8348472" y="2203704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endpoint execution.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348472" y="2487168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Searchable summaries in Log Analytics and artifacts in Blob Storage.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8348472" y="2770632"/>
            <a:ext cx="3118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approvals for sensitive actions.</a:t>
            </a:r>
            <a:endParaRPr lang="en-US" sz="980" dirty="0"/>
          </a:p>
        </p:txBody>
      </p:sp>
      <p:sp>
        <p:nvSpPr>
          <p:cNvPr id="25" name="Shape 23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27" name="Text 25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7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changes with FarSight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from ad hoc endpoint access to brokered, governed diagnostic evidence.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822960" y="1216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C42B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0" y="1216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FarSight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178308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FFEBEB"/>
          </a:solidFill>
          <a:ln w="12700">
            <a:solidFill>
              <a:srgbClr val="F5BEB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194767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or ad hoc scripts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0" y="178308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BF8EC"/>
          </a:solidFill>
          <a:ln w="12700">
            <a:solidFill>
              <a:srgbClr val="BEE1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48272" y="194767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diagnostic modules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50992" y="2039112"/>
            <a:ext cx="704088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56032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FFEBEB"/>
          </a:solidFill>
          <a:ln w="12700">
            <a:solidFill>
              <a:srgbClr val="F5BEB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7552" y="272491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Unclear blast radius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583680" y="256032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BF8EC"/>
          </a:solidFill>
          <a:ln w="12700">
            <a:solidFill>
              <a:srgbClr val="BEE1B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48272" y="272491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Schema, allowlist, timeout, and size caps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50992" y="2816352"/>
            <a:ext cx="704088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33756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FFEBEB"/>
          </a:solidFill>
          <a:ln w="12700">
            <a:solidFill>
              <a:srgbClr val="F5BEB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7552" y="350215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Hard-to-replay investigations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583680" y="333756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BF8EC"/>
          </a:solidFill>
          <a:ln w="12700">
            <a:solidFill>
              <a:srgbClr val="BEE1B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48272" y="350215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Job, result, artifact, and audit records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50992" y="3593592"/>
            <a:ext cx="704088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11480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FFEBEB"/>
          </a:solidFill>
          <a:ln w="12700">
            <a:solidFill>
              <a:srgbClr val="F5BE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7552" y="427939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Generic endpoint bundles only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583680" y="411480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BF8EC"/>
          </a:solidFill>
          <a:ln w="12700">
            <a:solidFill>
              <a:srgbClr val="BEE1B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48272" y="427939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Application-specific evidence and summaries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50992" y="4370832"/>
            <a:ext cx="704088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489204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FFEBEB"/>
          </a:solidFill>
          <a:ln w="12700">
            <a:solidFill>
              <a:srgbClr val="F5BEB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7552" y="505663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could request too much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83680" y="4892040"/>
            <a:ext cx="4663440" cy="512064"/>
          </a:xfrm>
          <a:prstGeom prst="roundRect">
            <a:avLst>
              <a:gd name="adj" fmla="val 14286"/>
            </a:avLst>
          </a:prstGeom>
          <a:solidFill>
            <a:srgbClr val="EBF8EC"/>
          </a:solidFill>
          <a:ln w="12700">
            <a:solidFill>
              <a:srgbClr val="BEE1B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48272" y="5056632"/>
            <a:ext cx="43525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policy plus optional human approval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50992" y="5148072"/>
            <a:ext cx="704088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5" name="Text 33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V1 design principles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release is intentionally narrow and deterministic.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502920" cy="502920"/>
          </a:xfrm>
          <a:prstGeom prst="ellipse">
            <a:avLst/>
          </a:prstGeom>
          <a:solidFill>
            <a:srgbClr val="C42B1C"/>
          </a:solidFill>
          <a:ln w="12700">
            <a:solidFill>
              <a:srgbClr val="C42B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7172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98448" y="129844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FFEBEB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142646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C42B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shell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463040" y="180136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never submits arbitrary PowerShell or command text.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434840" y="1325880"/>
            <a:ext cx="50292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147172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93208" y="129844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57800" y="142646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inbound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257800" y="180136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Endpoints only initiate outbound HTTPS/mTLS check-ins.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229600" y="1325880"/>
            <a:ext cx="502920" cy="502920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147172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87968" y="129844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E6F8F8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52560" y="142646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modules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9052560" y="180136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Collectors execute only allowlisted diagnostic modules.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62056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98448" y="344728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FFF2E6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463040" y="357530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data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1463040" y="395020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 are summarized; large artifacts follow a controlled upload path.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4434840" y="3474720"/>
            <a:ext cx="502920" cy="502920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362056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93208" y="344728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7800" y="357530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Dual control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5257800" y="395020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governs tools; endpoints enforce local policy again.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8229600" y="3474720"/>
            <a:ext cx="502920" cy="502920"/>
          </a:xfrm>
          <a:prstGeom prst="ellipse">
            <a:avLst/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0" y="3620567"/>
            <a:ext cx="502920" cy="1760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887968" y="3447288"/>
            <a:ext cx="2880360" cy="1389888"/>
          </a:xfrm>
          <a:prstGeom prst="roundRect">
            <a:avLst>
              <a:gd name="adj" fmla="val 5263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3575304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proof</a:t>
            </a:r>
            <a:endParaRPr lang="en-US" sz="1320" dirty="0"/>
          </a:p>
        </p:txBody>
      </p:sp>
      <p:sp>
        <p:nvSpPr>
          <p:cNvPr id="35" name="Text 33"/>
          <p:cNvSpPr/>
          <p:nvPr/>
        </p:nvSpPr>
        <p:spPr>
          <a:xfrm>
            <a:off x="9052560" y="3950208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decision, job, lease, result, and artifact is auditable.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8" name="Text 36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7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map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layer has a sharply defined responsibility.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2423160" cy="4069080"/>
          </a:xfrm>
          <a:prstGeom prst="roundRect">
            <a:avLst>
              <a:gd name="adj" fmla="val 3019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325880"/>
            <a:ext cx="73152" cy="406908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45389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collection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50392" y="182880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5.1 collector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50392" y="2112264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Scheduler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50392" y="2395728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manifest enforcement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850392" y="267919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V1 diagnostic modules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1618488" y="5102352"/>
            <a:ext cx="438912" cy="43891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8488" y="5229636"/>
            <a:ext cx="43891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20440" y="1325880"/>
            <a:ext cx="2423160" cy="4069080"/>
          </a:xfrm>
          <a:prstGeom prst="roundRect">
            <a:avLst>
              <a:gd name="adj" fmla="val 3019"/>
            </a:avLst>
          </a:prstGeom>
          <a:solidFill>
            <a:srgbClr val="E6F8F8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20440" y="1325880"/>
            <a:ext cx="73152" cy="4069080"/>
          </a:xfrm>
          <a:prstGeom prst="rect">
            <a:avLst>
              <a:gd name="adj" fmla="val 100000"/>
            </a:avLst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85032" y="145389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control plane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3685032" y="182880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control API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3685032" y="2112264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 state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3685032" y="2395728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 state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85032" y="267919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Blob and Log Analytics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4453128" y="5102352"/>
            <a:ext cx="438912" cy="438912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53128" y="5229636"/>
            <a:ext cx="43891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55080" y="1325880"/>
            <a:ext cx="2423160" cy="4069080"/>
          </a:xfrm>
          <a:prstGeom prst="roundRect">
            <a:avLst>
              <a:gd name="adj" fmla="val 3019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355080" y="1325880"/>
            <a:ext cx="73152" cy="4069080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45389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integration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6519672" y="182880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SRE Agent</a:t>
            </a:r>
            <a:endParaRPr lang="en-US" sz="980" dirty="0"/>
          </a:p>
        </p:txBody>
      </p:sp>
      <p:sp>
        <p:nvSpPr>
          <p:cNvPr id="28" name="Text 26"/>
          <p:cNvSpPr/>
          <p:nvPr/>
        </p:nvSpPr>
        <p:spPr>
          <a:xfrm>
            <a:off x="6519672" y="2112264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FarSight agent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6519672" y="2395728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tool gateway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6519672" y="267919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access</a:t>
            </a:r>
            <a:endParaRPr lang="en-US" sz="980" dirty="0"/>
          </a:p>
        </p:txBody>
      </p:sp>
      <p:sp>
        <p:nvSpPr>
          <p:cNvPr id="31" name="Shape 29"/>
          <p:cNvSpPr/>
          <p:nvPr/>
        </p:nvSpPr>
        <p:spPr>
          <a:xfrm>
            <a:off x="7287768" y="5102352"/>
            <a:ext cx="438912" cy="438912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87768" y="5229636"/>
            <a:ext cx="43891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89720" y="1325880"/>
            <a:ext cx="2423160" cy="4069080"/>
          </a:xfrm>
          <a:prstGeom prst="roundRect">
            <a:avLst>
              <a:gd name="adj" fmla="val 3019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89720" y="1325880"/>
            <a:ext cx="73152" cy="406908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54312" y="145389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and admin</a:t>
            </a:r>
            <a:endParaRPr lang="en-US" sz="1320" dirty="0"/>
          </a:p>
        </p:txBody>
      </p:sp>
      <p:sp>
        <p:nvSpPr>
          <p:cNvPr id="36" name="Text 34"/>
          <p:cNvSpPr/>
          <p:nvPr/>
        </p:nvSpPr>
        <p:spPr>
          <a:xfrm>
            <a:off x="9354312" y="182880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admin app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354312" y="2112264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Approvals and policy config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9354312" y="2395728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Dashboards and alerts</a:t>
            </a:r>
            <a:endParaRPr lang="en-US" sz="980" dirty="0"/>
          </a:p>
        </p:txBody>
      </p:sp>
      <p:sp>
        <p:nvSpPr>
          <p:cNvPr id="39" name="Text 37"/>
          <p:cNvSpPr/>
          <p:nvPr/>
        </p:nvSpPr>
        <p:spPr>
          <a:xfrm>
            <a:off x="9354312" y="267919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Intune deployment assets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10122408" y="5102352"/>
            <a:ext cx="438912" cy="438912"/>
          </a:xfrm>
          <a:prstGeom prst="ellipse">
            <a:avLst/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122408" y="5229636"/>
            <a:ext cx="43891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44" name="Text 42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7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 regional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System-of-record data stays in Italy North; Azure SRE Agent integration runs in Sweden Central.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502920" y="1444752"/>
            <a:ext cx="2880360" cy="461772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444752"/>
            <a:ext cx="73152" cy="4617720"/>
          </a:xfrm>
          <a:prstGeom prst="rect">
            <a:avLst>
              <a:gd name="adj" fmla="val 100000"/>
            </a:avLst>
          </a:prstGeom>
          <a:solidFill>
            <a:srgbClr val="4D5868"/>
          </a:solidFill>
          <a:ln w="12700">
            <a:solidFill>
              <a:srgbClr val="4D58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572768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Windows endpoints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667512" y="1947672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by Intune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667512" y="2231136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PowerShell collector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67512" y="2514600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Task Scheduler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667512" y="2798064"/>
            <a:ext cx="2569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mTLS client cert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3657600" y="1325880"/>
            <a:ext cx="4572000" cy="4892040"/>
          </a:xfrm>
          <a:prstGeom prst="roundRect">
            <a:avLst>
              <a:gd name="adj" fmla="val 1600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0" y="1325880"/>
            <a:ext cx="73152" cy="489204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1453896"/>
            <a:ext cx="42611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Italy North: FarSight control plane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8549640" y="1444752"/>
            <a:ext cx="3063240" cy="4617720"/>
          </a:xfrm>
          <a:prstGeom prst="roundRect">
            <a:avLst>
              <a:gd name="adj" fmla="val 2388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49640" y="1444752"/>
            <a:ext cx="73152" cy="461772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14232" y="1572768"/>
            <a:ext cx="27523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Sweden Central: SRE Agent integration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3977640" y="1874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42232" y="200253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4142232" y="237744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4142232" y="257860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</a:t>
            </a:r>
            <a:endParaRPr lang="en-US" sz="840" dirty="0"/>
          </a:p>
        </p:txBody>
      </p:sp>
      <p:sp>
        <p:nvSpPr>
          <p:cNvPr id="23" name="Shape 21"/>
          <p:cNvSpPr/>
          <p:nvPr/>
        </p:nvSpPr>
        <p:spPr>
          <a:xfrm>
            <a:off x="6080760" y="187452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5352" y="200253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6245352" y="237744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BFF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6245352" y="257860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</a:t>
            </a:r>
            <a:endParaRPr lang="en-US" sz="840" dirty="0"/>
          </a:p>
        </p:txBody>
      </p:sp>
      <p:sp>
        <p:nvSpPr>
          <p:cNvPr id="27" name="Shape 25"/>
          <p:cNvSpPr/>
          <p:nvPr/>
        </p:nvSpPr>
        <p:spPr>
          <a:xfrm>
            <a:off x="3977640" y="29718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42232" y="309981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320" dirty="0"/>
          </a:p>
        </p:txBody>
      </p:sp>
      <p:sp>
        <p:nvSpPr>
          <p:cNvPr id="29" name="Text 27"/>
          <p:cNvSpPr/>
          <p:nvPr/>
        </p:nvSpPr>
        <p:spPr>
          <a:xfrm>
            <a:off x="4142232" y="347472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4142232" y="367588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Jobs keyed by device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080760" y="297180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45352" y="309981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6245352" y="347472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</a:t>
            </a:r>
            <a:endParaRPr lang="en-US" sz="840" dirty="0"/>
          </a:p>
        </p:txBody>
      </p:sp>
      <p:sp>
        <p:nvSpPr>
          <p:cNvPr id="34" name="Text 32"/>
          <p:cNvSpPr/>
          <p:nvPr/>
        </p:nvSpPr>
        <p:spPr>
          <a:xfrm>
            <a:off x="6245352" y="367588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Jobs, devices, approvals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2232" y="419709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Artifacts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4142232" y="457200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Blob Storage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4142232" y="477316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Lifecycle retention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080760" y="4069080"/>
            <a:ext cx="1783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45352" y="4197096"/>
            <a:ext cx="14721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Telemetry</a:t>
            </a:r>
            <a:endParaRPr lang="en-US" sz="1320" dirty="0"/>
          </a:p>
        </p:txBody>
      </p:sp>
      <p:sp>
        <p:nvSpPr>
          <p:cNvPr id="41" name="Text 39"/>
          <p:cNvSpPr/>
          <p:nvPr/>
        </p:nvSpPr>
        <p:spPr>
          <a:xfrm>
            <a:off x="6245352" y="4572000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Analytics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6245352" y="4773168"/>
            <a:ext cx="14721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Insights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8887968" y="192024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052560" y="204825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SRE Agent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9052560" y="242316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 FarSight agent</a:t>
            </a:r>
            <a:endParaRPr lang="en-US" sz="840" dirty="0"/>
          </a:p>
        </p:txBody>
      </p:sp>
      <p:sp>
        <p:nvSpPr>
          <p:cNvPr id="46" name="Text 44"/>
          <p:cNvSpPr/>
          <p:nvPr/>
        </p:nvSpPr>
        <p:spPr>
          <a:xfrm>
            <a:off x="9052560" y="263347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Review/autonomous modes</a:t>
            </a:r>
            <a:endParaRPr lang="en-US" sz="840" dirty="0"/>
          </a:p>
        </p:txBody>
      </p:sp>
      <p:sp>
        <p:nvSpPr>
          <p:cNvPr id="47" name="Shape 45"/>
          <p:cNvSpPr/>
          <p:nvPr/>
        </p:nvSpPr>
        <p:spPr>
          <a:xfrm>
            <a:off x="8887968" y="315468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052560" y="328269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tool gateway</a:t>
            </a:r>
            <a:endParaRPr lang="en-US" sz="1320" dirty="0"/>
          </a:p>
        </p:txBody>
      </p:sp>
      <p:sp>
        <p:nvSpPr>
          <p:cNvPr id="49" name="Text 47"/>
          <p:cNvSpPr/>
          <p:nvPr/>
        </p:nvSpPr>
        <p:spPr>
          <a:xfrm>
            <a:off x="9052560" y="365760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Policy-enforced calls</a:t>
            </a:r>
            <a:endParaRPr lang="en-US" sz="840" dirty="0"/>
          </a:p>
        </p:txBody>
      </p:sp>
      <p:sp>
        <p:nvSpPr>
          <p:cNvPr id="50" name="Text 48"/>
          <p:cNvSpPr/>
          <p:nvPr/>
        </p:nvSpPr>
        <p:spPr>
          <a:xfrm>
            <a:off x="9052560" y="386791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</a:t>
            </a:r>
            <a:endParaRPr lang="en-US" sz="840" dirty="0"/>
          </a:p>
        </p:txBody>
      </p:sp>
      <p:sp>
        <p:nvSpPr>
          <p:cNvPr id="51" name="Shape 49"/>
          <p:cNvSpPr/>
          <p:nvPr/>
        </p:nvSpPr>
        <p:spPr>
          <a:xfrm>
            <a:off x="8887968" y="4389120"/>
            <a:ext cx="24231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052560" y="4517136"/>
            <a:ext cx="21122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files</a:t>
            </a:r>
            <a:endParaRPr lang="en-US" sz="1320" dirty="0"/>
          </a:p>
        </p:txBody>
      </p:sp>
      <p:sp>
        <p:nvSpPr>
          <p:cNvPr id="53" name="Text 51"/>
          <p:cNvSpPr/>
          <p:nvPr/>
        </p:nvSpPr>
        <p:spPr>
          <a:xfrm>
            <a:off x="9052560" y="4892040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Runbooks, diagrams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9052560" y="5102352"/>
            <a:ext cx="21122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Contracts, KQL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3401568" y="3657600"/>
            <a:ext cx="256032" cy="0"/>
          </a:xfrm>
          <a:prstGeom prst="line">
            <a:avLst/>
          </a:prstGeom>
          <a:noFill/>
          <a:ln w="27940">
            <a:solidFill>
              <a:srgbClr val="0078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18688" y="3209544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mTLS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8229600" y="3657600"/>
            <a:ext cx="320040" cy="0"/>
          </a:xfrm>
          <a:prstGeom prst="line">
            <a:avLst/>
          </a:prstGeom>
          <a:noFill/>
          <a:ln w="27940">
            <a:solidFill>
              <a:srgbClr val="57A6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10728" y="3209544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61" name="Text 59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Diagnostic job lifecycle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bounded request travels through governance, brokered state, endpoint execution, and normalized evidence.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411480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E5F4FF"/>
          </a:solidFill>
          <a:ln w="1397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 Agent identifies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needed evidence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148840" y="23134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F2EBFF"/>
          </a:solidFill>
          <a:ln w="13970">
            <a:solidFill>
              <a:srgbClr val="6F42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9736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96312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allows, denies,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 requires approval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050792" y="23134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15384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E6F8F8"/>
          </a:solidFill>
          <a:ln w="13970">
            <a:solidFill>
              <a:srgbClr val="00999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61688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job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98264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stores state and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persists job state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5952744" y="23134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17336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E5F4FF"/>
          </a:solidFill>
          <a:ln w="13970">
            <a:solidFill>
              <a:srgbClr val="0078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0216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leases one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job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7854696" y="23134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9288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FFF2E6"/>
          </a:solidFill>
          <a:ln w="13970">
            <a:solidFill>
              <a:srgbClr val="F28C2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65592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02168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 validates and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named module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9756648" y="23134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572768"/>
            <a:ext cx="1737360" cy="1481328"/>
          </a:xfrm>
          <a:prstGeom prst="roundRect">
            <a:avLst>
              <a:gd name="adj" fmla="val 4938"/>
            </a:avLst>
          </a:prstGeom>
          <a:solidFill>
            <a:srgbClr val="EBF8EC"/>
          </a:solidFill>
          <a:ln w="13970">
            <a:solidFill>
              <a:srgbClr val="57A6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67544" y="177393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104120" y="2139696"/>
            <a:ext cx="13716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Results, artifacts,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logs, audit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914400" y="3977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78992" y="4105656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Authoritative state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1078992" y="448056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 tracks job lifecycle, lease, approval, artifact index, and investigation history.</a:t>
            </a:r>
            <a:endParaRPr lang="en-US" sz="880" dirty="0"/>
          </a:p>
        </p:txBody>
      </p:sp>
      <p:sp>
        <p:nvSpPr>
          <p:cNvPr id="32" name="Shape 30"/>
          <p:cNvSpPr/>
          <p:nvPr/>
        </p:nvSpPr>
        <p:spPr>
          <a:xfrm>
            <a:off x="4663440" y="3977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28032" y="4105656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state</a:t>
            </a:r>
            <a:endParaRPr lang="en-US" sz="1320" dirty="0"/>
          </a:p>
        </p:txBody>
      </p:sp>
      <p:sp>
        <p:nvSpPr>
          <p:cNvPr id="34" name="Text 32"/>
          <p:cNvSpPr/>
          <p:nvPr/>
        </p:nvSpPr>
        <p:spPr>
          <a:xfrm>
            <a:off x="4828032" y="448056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 provides durable job state keyed by deviceId.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8412480" y="3977640"/>
            <a:ext cx="283464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77072" y="4105656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Searchable evidence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8577072" y="448056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Analytics stores normalized summaries; Blob stores large artifacts.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40" name="Text 38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7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Trust and identity model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callers use different identities, all scoped to least privilege.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85800" y="1325880"/>
            <a:ext cx="3337560" cy="4343400"/>
          </a:xfrm>
          <a:prstGeom prst="roundRect">
            <a:avLst>
              <a:gd name="adj" fmla="val 2192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325880"/>
            <a:ext cx="73152" cy="434340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453896"/>
            <a:ext cx="30266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50392" y="1828800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Per-device certificate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50392" y="2112264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mTLS to control API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50392" y="2395728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access only own jobs/results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850392" y="2679192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Hybrid issuance: PKI/SCEP-PKCS for prod; enrollment API for dev/pilot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434840" y="1325880"/>
            <a:ext cx="3337560" cy="4343400"/>
          </a:xfrm>
          <a:prstGeom prst="roundRect">
            <a:avLst>
              <a:gd name="adj" fmla="val 2192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34840" y="1325880"/>
            <a:ext cx="73152" cy="434340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99432" y="1453896"/>
            <a:ext cx="30266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Operators and admins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4599432" y="1828800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 Entra ID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99432" y="2112264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Group/role authorization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599432" y="2395728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web app and API access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99432" y="2679192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configuration changes audited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183880" y="1325880"/>
            <a:ext cx="3337560" cy="4343400"/>
          </a:xfrm>
          <a:prstGeom prst="roundRect">
            <a:avLst>
              <a:gd name="adj" fmla="val 2192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83880" y="1325880"/>
            <a:ext cx="73152" cy="4343400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48472" y="1453896"/>
            <a:ext cx="30266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SRE Agent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8348472" y="1828800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System-assigned managed identity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8348472" y="2112264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Calls AGT-protected gateway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348472" y="2395728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validates identity, tool, action risk, and policy result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8348472" y="2679192"/>
            <a:ext cx="30266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mode for higher-risk flows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29" name="Text 27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7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Governance model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system has three gates before endpoint execution.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3246120" cy="4434840"/>
          </a:xfrm>
          <a:prstGeom prst="roundRect">
            <a:avLst>
              <a:gd name="adj" fmla="val 2254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417320"/>
            <a:ext cx="73152" cy="4434840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4533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Tool governance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04672" y="192024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wraps FarSight tools.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20370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decides allow, deny, or require approval.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248716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is logged before the API call.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480560" y="1417320"/>
            <a:ext cx="3246120" cy="4434840"/>
          </a:xfrm>
          <a:prstGeom prst="roundRect">
            <a:avLst>
              <a:gd name="adj" fmla="val 2254"/>
            </a:avLst>
          </a:prstGeom>
          <a:solidFill>
            <a:srgbClr val="FFF2E6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80560" y="1417320"/>
            <a:ext cx="73152" cy="4434840"/>
          </a:xfrm>
          <a:prstGeom prst="rect">
            <a:avLst>
              <a:gd name="adj" fmla="val 10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54533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Human approval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4645152" y="192024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secondary layer.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645152" y="220370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 API is source of truth.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645152" y="248716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notification hook routes requests to approvers.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8321040" y="1417320"/>
            <a:ext cx="3246120" cy="4434840"/>
          </a:xfrm>
          <a:prstGeom prst="roundRect">
            <a:avLst>
              <a:gd name="adj" fmla="val 2254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21040" y="1417320"/>
            <a:ext cx="73152" cy="443484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5632" y="154533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Endpoint enforcement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8485632" y="192024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validates manifest, hash, schema, and allowlists.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8485632" y="220370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Timeouts and size caps are local.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8485632" y="248716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jobs are rejected and audited.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3913632" y="3611880"/>
            <a:ext cx="530352" cy="0"/>
          </a:xfrm>
          <a:prstGeom prst="line">
            <a:avLst/>
          </a:prstGeom>
          <a:noFill/>
          <a:ln w="27940">
            <a:solidFill>
              <a:srgbClr val="6F42C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54112" y="3611880"/>
            <a:ext cx="530352" cy="0"/>
          </a:xfrm>
          <a:prstGeom prst="line">
            <a:avLst/>
          </a:prstGeom>
          <a:noFill/>
          <a:ln w="27940">
            <a:solidFill>
              <a:srgbClr val="F28C2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28" name="Text 26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7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Endpoint collector execution model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scheduled, single-run collector checks in, validates one job, executes one module, and exits.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411480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5F4FF"/>
          </a:solidFill>
          <a:ln w="1397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7784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Schedule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Startup + every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5-15 minutes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2148840" y="20848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5F4FF"/>
          </a:solidFill>
          <a:ln w="1397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59736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96312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Avoid overlapping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runs</a:t>
            </a:r>
            <a:endParaRPr lang="en-US" sz="820" dirty="0"/>
          </a:p>
        </p:txBody>
      </p:sp>
      <p:sp>
        <p:nvSpPr>
          <p:cNvPr id="13" name="Shape 11"/>
          <p:cNvSpPr/>
          <p:nvPr/>
        </p:nvSpPr>
        <p:spPr>
          <a:xfrm>
            <a:off x="4050792" y="20848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15384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5F4FF"/>
          </a:solidFill>
          <a:ln w="13970">
            <a:solidFill>
              <a:srgbClr val="0078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61688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in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98264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mTLS and policy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 exchange</a:t>
            </a:r>
            <a:endParaRPr lang="en-US" sz="820" dirty="0"/>
          </a:p>
        </p:txBody>
      </p:sp>
      <p:sp>
        <p:nvSpPr>
          <p:cNvPr id="17" name="Shape 15"/>
          <p:cNvSpPr/>
          <p:nvPr/>
        </p:nvSpPr>
        <p:spPr>
          <a:xfrm>
            <a:off x="5952744" y="20848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17336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BF8EC"/>
          </a:solidFill>
          <a:ln w="13970">
            <a:solidFill>
              <a:srgbClr val="57A6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0216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Manifest, hash,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schema, allowlists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7854696" y="20848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19288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BF8EC"/>
          </a:solidFill>
          <a:ln w="13970">
            <a:solidFill>
              <a:srgbClr val="57A6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65592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02168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module with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timeout and caps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9756648" y="2084832"/>
            <a:ext cx="137160" cy="0"/>
          </a:xfrm>
          <a:prstGeom prst="line">
            <a:avLst/>
          </a:prstGeom>
          <a:noFill/>
          <a:ln w="19050">
            <a:solidFill>
              <a:srgbClr val="D2DA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921240" y="1389888"/>
            <a:ext cx="1737360" cy="1389888"/>
          </a:xfrm>
          <a:prstGeom prst="roundRect">
            <a:avLst>
              <a:gd name="adj" fmla="val 5263"/>
            </a:avLst>
          </a:prstGeom>
          <a:solidFill>
            <a:srgbClr val="EBF8EC"/>
          </a:solidFill>
          <a:ln w="13970">
            <a:solidFill>
              <a:srgbClr val="57A6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67544" y="1591056"/>
            <a:ext cx="1444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Upload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104120" y="1956816"/>
            <a:ext cx="1371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envelope and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artifact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7724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41832" y="3922776"/>
            <a:ext cx="4809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footprint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941832" y="4297680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C:\ProgramData\Company\SreCollector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941832" y="4544568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bootstrap.ps1, collector.ps1, common.psm1, healthcheck.ps1, repair.ps1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941832" y="4791456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config, manifest, state, logs, cache, artifacts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6263640" y="379476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922776"/>
            <a:ext cx="4809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Intune responsibilities</a:t>
            </a:r>
            <a:endParaRPr lang="en-US" sz="1320" dirty="0"/>
          </a:p>
        </p:txBody>
      </p:sp>
      <p:sp>
        <p:nvSpPr>
          <p:cNvPr id="36" name="Text 34"/>
          <p:cNvSpPr/>
          <p:nvPr/>
        </p:nvSpPr>
        <p:spPr>
          <a:xfrm>
            <a:off x="6428232" y="4297680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 bootstrap and updates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6428232" y="4544568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Remediations for healthcheck and repair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6428232" y="4791456"/>
            <a:ext cx="4809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built-in Collect Diagnostics only for generic baseline evidence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ENDPOINT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V1 diagnostic module catalog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Modules complement Intune diagnostics with application-aware evidence.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55212"/>
            <a:ext cx="475488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07592" y="1399032"/>
            <a:ext cx="28346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72184" y="1527048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Get-AppLogBundle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472184" y="19019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app log paths</a:t>
            </a:r>
            <a:endParaRPr lang="en-US" sz="880" dirty="0"/>
          </a:p>
        </p:txBody>
      </p:sp>
      <p:sp>
        <p:nvSpPr>
          <p:cNvPr id="11" name="Text 9"/>
          <p:cNvSpPr/>
          <p:nvPr/>
        </p:nvSpPr>
        <p:spPr>
          <a:xfrm>
            <a:off x="1472184" y="21305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 + optional zip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4416552" y="1417320"/>
            <a:ext cx="475488" cy="475488"/>
          </a:xfrm>
          <a:prstGeom prst="ellipse">
            <a:avLst/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1555212"/>
            <a:ext cx="475488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38344" y="1399032"/>
            <a:ext cx="28346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2936" y="1527048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Get-AppEventSlice</a:t>
            </a:r>
            <a:endParaRPr lang="en-US" sz="1320" dirty="0"/>
          </a:p>
        </p:txBody>
      </p:sp>
      <p:sp>
        <p:nvSpPr>
          <p:cNvPr id="16" name="Text 14"/>
          <p:cNvSpPr/>
          <p:nvPr/>
        </p:nvSpPr>
        <p:spPr>
          <a:xfrm>
            <a:off x="5202936" y="19019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Windows event queries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202936" y="21305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Get-WinEvent filters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8147304" y="1417320"/>
            <a:ext cx="475488" cy="475488"/>
          </a:xfrm>
          <a:prstGeom prst="ellipse">
            <a:avLst/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47304" y="1555212"/>
            <a:ext cx="475488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769096" y="1399032"/>
            <a:ext cx="28346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33688" y="1527048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Get-AppHealthSnapshot</a:t>
            </a:r>
            <a:endParaRPr lang="en-US" sz="1320" dirty="0"/>
          </a:p>
        </p:txBody>
      </p:sp>
      <p:sp>
        <p:nvSpPr>
          <p:cNvPr id="22" name="Text 20"/>
          <p:cNvSpPr/>
          <p:nvPr/>
        </p:nvSpPr>
        <p:spPr>
          <a:xfrm>
            <a:off x="8933688" y="19019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Service, process, version,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8933688" y="2130552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config state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85800" y="3355848"/>
            <a:ext cx="475488" cy="47548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3493740"/>
            <a:ext cx="475488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307592" y="3337560"/>
            <a:ext cx="28346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72184" y="3465576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Test-AppConnectivity</a:t>
            </a:r>
            <a:endParaRPr lang="en-US" sz="1320" dirty="0"/>
          </a:p>
        </p:txBody>
      </p:sp>
      <p:sp>
        <p:nvSpPr>
          <p:cNvPr id="28" name="Text 26"/>
          <p:cNvSpPr/>
          <p:nvPr/>
        </p:nvSpPr>
        <p:spPr>
          <a:xfrm>
            <a:off x="1472184" y="384048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DNS, TCP/TLS/HTTP, proxy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1472184" y="406908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and latency hints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4416552" y="3355848"/>
            <a:ext cx="475488" cy="475488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16552" y="3493740"/>
            <a:ext cx="475488" cy="1664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038344" y="3337560"/>
            <a:ext cx="2834640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02936" y="3465576"/>
            <a:ext cx="252374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Get-ConfigEvidence</a:t>
            </a:r>
            <a:endParaRPr lang="en-US" sz="1320" dirty="0"/>
          </a:p>
        </p:txBody>
      </p:sp>
      <p:sp>
        <p:nvSpPr>
          <p:cNvPr id="34" name="Text 32"/>
          <p:cNvSpPr/>
          <p:nvPr/>
        </p:nvSpPr>
        <p:spPr>
          <a:xfrm>
            <a:off x="5202936" y="384048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registry/config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5202936" y="4069080"/>
            <a:ext cx="252374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redacted values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4434840" y="4983480"/>
            <a:ext cx="6629400" cy="731520"/>
          </a:xfrm>
          <a:prstGeom prst="roundRect">
            <a:avLst>
              <a:gd name="adj" fmla="val 10000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99432" y="5111496"/>
            <a:ext cx="63185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rule</a:t>
            </a:r>
            <a:endParaRPr lang="en-US" sz="1320" dirty="0"/>
          </a:p>
        </p:txBody>
      </p:sp>
      <p:sp>
        <p:nvSpPr>
          <p:cNvPr id="38" name="Text 36"/>
          <p:cNvSpPr/>
          <p:nvPr/>
        </p:nvSpPr>
        <p:spPr>
          <a:xfrm>
            <a:off x="4599432" y="5486400"/>
            <a:ext cx="63185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module has a manifest entry, parameter schema, risk tier, timeout, max artifact size, content hash, and Pester tests.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41" name="Text 39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state, normalized telemetry, and large artifacts are intentionally separated.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3246120" cy="4617720"/>
          </a:xfrm>
          <a:prstGeom prst="roundRect">
            <a:avLst>
              <a:gd name="adj" fmla="val 2254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234440"/>
            <a:ext cx="73152" cy="461772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36245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DB: control state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04672" y="173736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devices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002536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jobs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04672" y="2267712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approvals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804672" y="253288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manifests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04672" y="279806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policies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804672" y="306324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investigations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804672" y="3328416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artifactIndex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804672" y="3593592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auditEvents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4480560" y="1234440"/>
            <a:ext cx="3246120" cy="4617720"/>
          </a:xfrm>
          <a:prstGeom prst="roundRect">
            <a:avLst>
              <a:gd name="adj" fmla="val 2254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480560" y="1234440"/>
            <a:ext cx="73152" cy="4617720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45152" y="136245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Analytics: evidence query plane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4645152" y="173736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health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4645152" y="202082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lifecycle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4645152" y="230428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summaries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4645152" y="2587752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events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4645152" y="2871216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4645152" y="315468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 evidence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4645152" y="343814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decisions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321040" y="1234440"/>
            <a:ext cx="3246120" cy="4617720"/>
          </a:xfrm>
          <a:prstGeom prst="roundRect">
            <a:avLst>
              <a:gd name="adj" fmla="val 2254"/>
            </a:avLst>
          </a:prstGeom>
          <a:solidFill>
            <a:srgbClr val="FFF2E6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321040" y="1234440"/>
            <a:ext cx="73152" cy="4617720"/>
          </a:xfrm>
          <a:prstGeom prst="rect">
            <a:avLst>
              <a:gd name="adj" fmla="val 10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1362456"/>
            <a:ext cx="293522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Blob Storage: artifact plane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8485632" y="173736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zipped logs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8485632" y="2039112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 windows</a:t>
            </a:r>
            <a:endParaRPr lang="en-US" sz="980" dirty="0"/>
          </a:p>
        </p:txBody>
      </p:sp>
      <p:sp>
        <p:nvSpPr>
          <p:cNvPr id="32" name="Text 30"/>
          <p:cNvSpPr/>
          <p:nvPr/>
        </p:nvSpPr>
        <p:spPr>
          <a:xfrm>
            <a:off x="8485632" y="2340864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bundles</a:t>
            </a:r>
            <a:endParaRPr lang="en-US" sz="980" dirty="0"/>
          </a:p>
        </p:txBody>
      </p:sp>
      <p:sp>
        <p:nvSpPr>
          <p:cNvPr id="33" name="Text 31"/>
          <p:cNvSpPr/>
          <p:nvPr/>
        </p:nvSpPr>
        <p:spPr>
          <a:xfrm>
            <a:off x="8485632" y="2642616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hash-verified metadata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8485632" y="2944368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lifecycle delete policy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8485632" y="3246120"/>
            <a:ext cx="293522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anonymous public access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8" name="Text 36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PLATFORM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Azure deployment plan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AZD drives environments; Bicep keeps resource boundaries explicit.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85800" y="1463040"/>
            <a:ext cx="3383280" cy="4480560"/>
          </a:xfrm>
          <a:prstGeom prst="roundRect">
            <a:avLst>
              <a:gd name="adj" fmla="val 2162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463040"/>
            <a:ext cx="73152" cy="448056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591056"/>
            <a:ext cx="30723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AZD + Bicep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50392" y="1965960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azure.yaml for environments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50392" y="2276856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infra/bicep/main.bicep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50392" y="2587752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modules for Container Apps, Cosmos, Storage, Monitoring, Security, Networking, optional APIM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4434840" y="1463040"/>
            <a:ext cx="3383280" cy="4480560"/>
          </a:xfrm>
          <a:prstGeom prst="roundRect">
            <a:avLst>
              <a:gd name="adj" fmla="val 2162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34840" y="1463040"/>
            <a:ext cx="73152" cy="448056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1591056"/>
            <a:ext cx="30723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parameters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4599432" y="1965960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 / test / prod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4599432" y="2295144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HTTPS or private endpoint profile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4599432" y="2624328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APIM enablement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599432" y="2953512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 enrollment API toggle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99432" y="3282696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retention days for jobs, logs, artifacts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8183880" y="1463040"/>
            <a:ext cx="3383280" cy="4480560"/>
          </a:xfrm>
          <a:prstGeom prst="roundRect">
            <a:avLst>
              <a:gd name="adj" fmla="val 2162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83880" y="1463040"/>
            <a:ext cx="73152" cy="4480560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48472" y="1591056"/>
            <a:ext cx="30723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CI/CD</a:t>
            </a:r>
            <a:endParaRPr lang="en-US" sz="1320" dirty="0"/>
          </a:p>
        </p:txBody>
      </p:sp>
      <p:sp>
        <p:nvSpPr>
          <p:cNvPr id="23" name="Text 21"/>
          <p:cNvSpPr/>
          <p:nvPr/>
        </p:nvSpPr>
        <p:spPr>
          <a:xfrm>
            <a:off x="8348472" y="1965960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Actions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8348472" y="2295144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OIDC federated credentials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8348472" y="2624328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azd package / provision / deploy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8348472" y="2953512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Bicep lint and what-if</a:t>
            </a:r>
            <a:endParaRPr lang="en-US" sz="980" dirty="0"/>
          </a:p>
        </p:txBody>
      </p:sp>
      <p:sp>
        <p:nvSpPr>
          <p:cNvPr id="27" name="Text 25"/>
          <p:cNvSpPr/>
          <p:nvPr/>
        </p:nvSpPr>
        <p:spPr>
          <a:xfrm>
            <a:off x="8348472" y="3282696"/>
            <a:ext cx="30723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validation before deploy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0" name="Text 28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and operations experience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dedicated web app makes the system configurable and observable.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594360" y="1188720"/>
            <a:ext cx="6400800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4173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FarSight Operations Dashboard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2423160" cy="868680"/>
          </a:xfrm>
          <a:prstGeom prst="rect">
            <a:avLst>
              <a:gd name="adj" fmla="val 8421"/>
            </a:avLst>
          </a:prstGeom>
          <a:solidFill>
            <a:srgbClr val="F7FAF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1874520"/>
            <a:ext cx="73152" cy="86868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0299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98.7%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78992" y="2432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heartbeat success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611880" y="1874520"/>
            <a:ext cx="2423160" cy="868680"/>
          </a:xfrm>
          <a:prstGeom prst="rect">
            <a:avLst>
              <a:gd name="adj" fmla="val 8421"/>
            </a:avLst>
          </a:prstGeom>
          <a:solidFill>
            <a:srgbClr val="F7FAF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11880" y="1874520"/>
            <a:ext cx="73152" cy="86868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22192" y="20299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822192" y="2432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queued jobs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68680" y="3017520"/>
            <a:ext cx="2423160" cy="868680"/>
          </a:xfrm>
          <a:prstGeom prst="rect">
            <a:avLst>
              <a:gd name="adj" fmla="val 8421"/>
            </a:avLst>
          </a:prstGeom>
          <a:solidFill>
            <a:srgbClr val="F7FAF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017520"/>
            <a:ext cx="73152" cy="86868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8992" y="31729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78992" y="3575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expired jobs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611880" y="3017520"/>
            <a:ext cx="2423160" cy="868680"/>
          </a:xfrm>
          <a:prstGeom prst="rect">
            <a:avLst>
              <a:gd name="adj" fmla="val 8421"/>
            </a:avLst>
          </a:prstGeom>
          <a:solidFill>
            <a:srgbClr val="F7FAF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11880" y="3017520"/>
            <a:ext cx="73152" cy="868680"/>
          </a:xfrm>
          <a:prstGeom prst="rect">
            <a:avLst>
              <a:gd name="adj" fmla="val 10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2192" y="31729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822192" y="357530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2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 approvals</a:t>
            </a:r>
            <a:endParaRPr lang="en-US" sz="920" dirty="0"/>
          </a:p>
        </p:txBody>
      </p:sp>
      <p:sp>
        <p:nvSpPr>
          <p:cNvPr id="24" name="Text 22"/>
          <p:cNvSpPr/>
          <p:nvPr/>
        </p:nvSpPr>
        <p:spPr>
          <a:xfrm>
            <a:off x="868680" y="4050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latency by module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68680" y="4663440"/>
            <a:ext cx="292608" cy="411480"/>
          </a:xfrm>
          <a:prstGeom prst="rect">
            <a:avLst>
              <a:gd name="adj" fmla="val 25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71600" y="4343400"/>
            <a:ext cx="292608" cy="731520"/>
          </a:xfrm>
          <a:prstGeom prst="rect">
            <a:avLst>
              <a:gd name="adj" fmla="val 25000"/>
            </a:avLst>
          </a:prstGeom>
          <a:solidFill>
            <a:srgbClr val="009999"/>
          </a:solidFill>
          <a:ln w="12700">
            <a:solidFill>
              <a:srgbClr val="00999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74520" y="4754880"/>
            <a:ext cx="292608" cy="320040"/>
          </a:xfrm>
          <a:prstGeom prst="rect">
            <a:avLst>
              <a:gd name="adj" fmla="val 25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77440" y="4480560"/>
            <a:ext cx="292608" cy="594360"/>
          </a:xfrm>
          <a:prstGeom prst="rect">
            <a:avLst>
              <a:gd name="adj" fmla="val 25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80360" y="4599432"/>
            <a:ext cx="292608" cy="475488"/>
          </a:xfrm>
          <a:prstGeom prst="rect">
            <a:avLst>
              <a:gd name="adj" fmla="val 25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1188720"/>
            <a:ext cx="4251960" cy="4892040"/>
          </a:xfrm>
          <a:prstGeom prst="roundRect">
            <a:avLst>
              <a:gd name="adj" fmla="val 1720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60920" y="1188720"/>
            <a:ext cx="73152" cy="489204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25512" y="1316736"/>
            <a:ext cx="39410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Operations controls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7525512" y="1691640"/>
            <a:ext cx="39410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Configuration: retention, network profile, APIM option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7525512" y="2093976"/>
            <a:ext cx="39410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Policy: module catalog, AGT policies, endpoint allowlists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7525512" y="2496312"/>
            <a:ext cx="39410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Approvals: queue, decisions, audit history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7525512" y="2898648"/>
            <a:ext cx="39410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Alerts: heartbeats, stale leases, API errors, RU throttling</a:t>
            </a:r>
            <a:endParaRPr lang="en-US" sz="980" dirty="0"/>
          </a:p>
        </p:txBody>
      </p:sp>
      <p:sp>
        <p:nvSpPr>
          <p:cNvPr id="37" name="Shape 35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9" name="Text 37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Delivery roadmap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loop first, pilot safely, then harden for production.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594360" y="1627632"/>
            <a:ext cx="2514600" cy="4096512"/>
          </a:xfrm>
          <a:prstGeom prst="roundRect">
            <a:avLst>
              <a:gd name="adj" fmla="val 2909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627632"/>
            <a:ext cx="73152" cy="4096512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755648"/>
            <a:ext cx="22037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758952" y="213055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brokered diagnostic loop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758952" y="249631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AZD/Bicep baseline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58952" y="2788920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+ Cosmos + Blob Storage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58952" y="3081528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skeleton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758952" y="3374136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modules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58952" y="3666744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Basic telemetry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1545336" y="1307592"/>
            <a:ext cx="512064" cy="512064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45336" y="1456091"/>
            <a:ext cx="51206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36392" y="1563624"/>
            <a:ext cx="274320" cy="0"/>
          </a:xfrm>
          <a:prstGeom prst="line">
            <a:avLst/>
          </a:prstGeom>
          <a:noFill/>
          <a:ln w="25400">
            <a:solidFill>
              <a:srgbClr val="D2DA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29000" y="1627632"/>
            <a:ext cx="2514600" cy="4096512"/>
          </a:xfrm>
          <a:prstGeom prst="roundRect">
            <a:avLst>
              <a:gd name="adj" fmla="val 2909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29000" y="1627632"/>
            <a:ext cx="73152" cy="4096512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93592" y="1755648"/>
            <a:ext cx="22037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3593592" y="213055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capabilities and user experience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3593592" y="249631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V1 modules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3593592" y="2788920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Blob artifacts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593592" y="3081528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Admin app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3593592" y="3374136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AGT gateway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3593592" y="3666744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approvals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4379976" y="1307592"/>
            <a:ext cx="512064" cy="512064"/>
          </a:xfrm>
          <a:prstGeom prst="ellipse">
            <a:avLst/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79976" y="1456091"/>
            <a:ext cx="51206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71032" y="1563624"/>
            <a:ext cx="274320" cy="0"/>
          </a:xfrm>
          <a:prstGeom prst="line">
            <a:avLst/>
          </a:prstGeom>
          <a:noFill/>
          <a:ln w="25400">
            <a:solidFill>
              <a:srgbClr val="D2DA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63640" y="1627632"/>
            <a:ext cx="2514600" cy="4096512"/>
          </a:xfrm>
          <a:prstGeom prst="roundRect">
            <a:avLst>
              <a:gd name="adj" fmla="val 2909"/>
            </a:avLst>
          </a:prstGeom>
          <a:solidFill>
            <a:srgbClr val="FFF2E6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263640" y="1627632"/>
            <a:ext cx="73152" cy="4096512"/>
          </a:xfrm>
          <a:prstGeom prst="rect">
            <a:avLst>
              <a:gd name="adj" fmla="val 10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1755648"/>
            <a:ext cx="22037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F28C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Hardening</a:t>
            </a:r>
            <a:endParaRPr lang="en-US" sz="1320" dirty="0"/>
          </a:p>
        </p:txBody>
      </p:sp>
      <p:sp>
        <p:nvSpPr>
          <p:cNvPr id="33" name="Text 31"/>
          <p:cNvSpPr/>
          <p:nvPr/>
        </p:nvSpPr>
        <p:spPr>
          <a:xfrm>
            <a:off x="6428232" y="213055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Close production controls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28232" y="249631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PKI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6428232" y="2788920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endpoints</a:t>
            </a:r>
            <a:endParaRPr lang="en-US" sz="980" dirty="0"/>
          </a:p>
        </p:txBody>
      </p:sp>
      <p:sp>
        <p:nvSpPr>
          <p:cNvPr id="36" name="Text 34"/>
          <p:cNvSpPr/>
          <p:nvPr/>
        </p:nvSpPr>
        <p:spPr>
          <a:xfrm>
            <a:off x="6428232" y="3081528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APIM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28232" y="3374136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Load/security tests</a:t>
            </a:r>
            <a:endParaRPr lang="en-US" sz="980" dirty="0"/>
          </a:p>
        </p:txBody>
      </p:sp>
      <p:sp>
        <p:nvSpPr>
          <p:cNvPr id="38" name="Text 36"/>
          <p:cNvSpPr/>
          <p:nvPr/>
        </p:nvSpPr>
        <p:spPr>
          <a:xfrm>
            <a:off x="6428232" y="3666744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audits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7214616" y="1307592"/>
            <a:ext cx="512064" cy="512064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14616" y="1456091"/>
            <a:ext cx="51206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8805672" y="1563624"/>
            <a:ext cx="274320" cy="0"/>
          </a:xfrm>
          <a:prstGeom prst="line">
            <a:avLst/>
          </a:prstGeom>
          <a:noFill/>
          <a:ln w="25400">
            <a:solidFill>
              <a:srgbClr val="D2DA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098280" y="1627632"/>
            <a:ext cx="2514600" cy="4096512"/>
          </a:xfrm>
          <a:prstGeom prst="roundRect">
            <a:avLst>
              <a:gd name="adj" fmla="val 2909"/>
            </a:avLst>
          </a:prstGeom>
          <a:solidFill>
            <a:srgbClr val="F2EB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9098280" y="1627632"/>
            <a:ext cx="73152" cy="4096512"/>
          </a:xfrm>
          <a:prstGeom prst="rect">
            <a:avLst>
              <a:gd name="adj" fmla="val 100000"/>
            </a:avLst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62872" y="1755648"/>
            <a:ext cx="22037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6F42C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</a:t>
            </a:r>
            <a:endParaRPr lang="en-US" sz="1320" dirty="0"/>
          </a:p>
        </p:txBody>
      </p:sp>
      <p:sp>
        <p:nvSpPr>
          <p:cNvPr id="45" name="Text 43"/>
          <p:cNvSpPr/>
          <p:nvPr/>
        </p:nvSpPr>
        <p:spPr>
          <a:xfrm>
            <a:off x="9262872" y="213055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 with confidence</a:t>
            </a:r>
            <a:endParaRPr lang="en-US" sz="980" dirty="0"/>
          </a:p>
        </p:txBody>
      </p:sp>
      <p:sp>
        <p:nvSpPr>
          <p:cNvPr id="46" name="Text 44"/>
          <p:cNvSpPr/>
          <p:nvPr/>
        </p:nvSpPr>
        <p:spPr>
          <a:xfrm>
            <a:off x="9262872" y="2496312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Runbooks</a:t>
            </a:r>
            <a:endParaRPr lang="en-US" sz="980" dirty="0"/>
          </a:p>
        </p:txBody>
      </p:sp>
      <p:sp>
        <p:nvSpPr>
          <p:cNvPr id="47" name="Text 45"/>
          <p:cNvSpPr/>
          <p:nvPr/>
        </p:nvSpPr>
        <p:spPr>
          <a:xfrm>
            <a:off x="9262872" y="2788920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Dashboards</a:t>
            </a:r>
            <a:endParaRPr lang="en-US" sz="980" dirty="0"/>
          </a:p>
        </p:txBody>
      </p:sp>
      <p:sp>
        <p:nvSpPr>
          <p:cNvPr id="48" name="Text 46"/>
          <p:cNvSpPr/>
          <p:nvPr/>
        </p:nvSpPr>
        <p:spPr>
          <a:xfrm>
            <a:off x="9262872" y="3081528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 Agent KB</a:t>
            </a:r>
            <a:endParaRPr lang="en-US" sz="980" dirty="0"/>
          </a:p>
        </p:txBody>
      </p:sp>
      <p:sp>
        <p:nvSpPr>
          <p:cNvPr id="49" name="Text 47"/>
          <p:cNvSpPr/>
          <p:nvPr/>
        </p:nvSpPr>
        <p:spPr>
          <a:xfrm>
            <a:off x="9262872" y="3374136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 procedures</a:t>
            </a:r>
            <a:endParaRPr lang="en-US" sz="980" dirty="0"/>
          </a:p>
        </p:txBody>
      </p:sp>
      <p:sp>
        <p:nvSpPr>
          <p:cNvPr id="50" name="Text 48"/>
          <p:cNvSpPr/>
          <p:nvPr/>
        </p:nvSpPr>
        <p:spPr>
          <a:xfrm>
            <a:off x="9262872" y="3666744"/>
            <a:ext cx="22037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Rollout rings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10049256" y="1307592"/>
            <a:ext cx="512064" cy="512064"/>
          </a:xfrm>
          <a:prstGeom prst="ellipse">
            <a:avLst/>
          </a:prstGeom>
          <a:solidFill>
            <a:srgbClr val="6F42C1"/>
          </a:solidFill>
          <a:ln w="12700">
            <a:solidFill>
              <a:srgbClr val="6F42C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049256" y="1456091"/>
            <a:ext cx="512064" cy="1792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55" name="Text 53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 two weeks execution plan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implementation by proving one end-to-end job path with a simulated device.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685800" y="1234440"/>
            <a:ext cx="5166360" cy="4206240"/>
          </a:xfrm>
          <a:prstGeom prst="roundRect">
            <a:avLst>
              <a:gd name="adj" fmla="val 1739"/>
            </a:avLst>
          </a:prstGeom>
          <a:solidFill>
            <a:srgbClr val="E5F4FF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1234440"/>
            <a:ext cx="73152" cy="4206240"/>
          </a:xfrm>
          <a:prstGeom prst="rect">
            <a:avLst>
              <a:gd name="adj" fmla="val 10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362456"/>
            <a:ext cx="4855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78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1: foundation</a:t>
            </a:r>
            <a:endParaRPr lang="en-US" sz="1320" dirty="0"/>
          </a:p>
        </p:txBody>
      </p:sp>
      <p:sp>
        <p:nvSpPr>
          <p:cNvPr id="9" name="Text 7"/>
          <p:cNvSpPr/>
          <p:nvPr/>
        </p:nvSpPr>
        <p:spPr>
          <a:xfrm>
            <a:off x="850392" y="1737360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skeleton and conventions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50392" y="2121408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AZD/Bicep baseline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850392" y="2505456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Cosmos containers and artifact storage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850392" y="2889504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skeleton</a:t>
            </a:r>
            <a:endParaRPr lang="en-US" sz="980" dirty="0"/>
          </a:p>
        </p:txBody>
      </p:sp>
      <p:sp>
        <p:nvSpPr>
          <p:cNvPr id="13" name="Text 11"/>
          <p:cNvSpPr/>
          <p:nvPr/>
        </p:nvSpPr>
        <p:spPr>
          <a:xfrm>
            <a:off x="850392" y="3273552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Collector bootstrap and no-op check-in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309360" y="1234440"/>
            <a:ext cx="5166360" cy="4206240"/>
          </a:xfrm>
          <a:prstGeom prst="roundRect">
            <a:avLst>
              <a:gd name="adj" fmla="val 1739"/>
            </a:avLst>
          </a:prstGeom>
          <a:solidFill>
            <a:srgbClr val="EBF8EC"/>
          </a:solidFill>
          <a:ln w="12700">
            <a:solidFill>
              <a:srgbClr val="D2DAE4"/>
            </a:solidFill>
            <a:prstDash val="solid"/>
          </a:ln>
          <a:effectLst>
            <a:outerShdw sx="100000" sy="100000" kx="0" ky="0" algn="bl" rotWithShape="0" blurRad="25400" dist="1905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1234440"/>
            <a:ext cx="73152" cy="4206240"/>
          </a:xfrm>
          <a:prstGeom prst="rect">
            <a:avLst>
              <a:gd name="adj" fmla="val 100000"/>
            </a:avLst>
          </a:prstGeom>
          <a:solidFill>
            <a:srgbClr val="57A64A"/>
          </a:solidFill>
          <a:ln w="12700">
            <a:solidFill>
              <a:srgbClr val="57A6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1362456"/>
            <a:ext cx="4855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57A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2: first diagnostic loop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6473952" y="1737360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Job create/fetch/lease lifecycle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6473952" y="2121408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ingestion and Log Analytics path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6473952" y="2505456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Get-AppEventSlice module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6473952" y="2889504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Get-AppLogBundle module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6473952" y="3273552"/>
            <a:ext cx="485546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Simulated endpoint E2E demo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2011680" y="5513832"/>
            <a:ext cx="81838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176272" y="5641848"/>
            <a:ext cx="787298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 of done</a:t>
            </a:r>
            <a:endParaRPr lang="en-US" sz="1320" dirty="0"/>
          </a:p>
        </p:txBody>
      </p:sp>
      <p:sp>
        <p:nvSpPr>
          <p:cNvPr id="24" name="Text 22"/>
          <p:cNvSpPr/>
          <p:nvPr/>
        </p:nvSpPr>
        <p:spPr>
          <a:xfrm>
            <a:off x="2176272" y="6016752"/>
            <a:ext cx="787298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6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simulated device completes a bounded job; job lifecycle, result summary, and artifact metadata are visible through API/logs.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27" name="Text 25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256032"/>
            <a:ext cx="1325880" cy="256032"/>
          </a:xfrm>
          <a:prstGeom prst="roundRect">
            <a:avLst>
              <a:gd name="adj" fmla="val 28571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320040"/>
            <a:ext cx="13258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5669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204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Decisions to close before code generation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30352" y="1014984"/>
            <a:ext cx="10835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3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choices affect implementation details, not the core architecture.</a:t>
            </a:r>
            <a:endParaRPr lang="en-US" sz="1130" dirty="0"/>
          </a:p>
        </p:txBody>
      </p:sp>
      <p:sp>
        <p:nvSpPr>
          <p:cNvPr id="6" name="Shape 4"/>
          <p:cNvSpPr/>
          <p:nvPr/>
        </p:nvSpPr>
        <p:spPr>
          <a:xfrm>
            <a:off x="822960" y="1325880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445209"/>
            <a:ext cx="41148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17320" y="1170432"/>
            <a:ext cx="98298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81912" y="1298448"/>
            <a:ext cx="95189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Azure SRE Agent integration</a:t>
            </a:r>
            <a:endParaRPr lang="en-US" sz="1320" dirty="0"/>
          </a:p>
        </p:txBody>
      </p:sp>
      <p:sp>
        <p:nvSpPr>
          <p:cNvPr id="10" name="Text 8"/>
          <p:cNvSpPr/>
          <p:nvPr/>
        </p:nvSpPr>
        <p:spPr>
          <a:xfrm>
            <a:off x="1581912" y="1673352"/>
            <a:ext cx="95189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ARM/Bicep support and exact custom tool mechanism.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822960" y="2221992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2341321"/>
            <a:ext cx="41148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417320" y="2066544"/>
            <a:ext cx="98298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81912" y="2194560"/>
            <a:ext cx="95189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Production certificate authority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1581912" y="2569464"/>
            <a:ext cx="95189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enterprise PKI, SCEP, or PKCS production issuance details.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822960" y="3118104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237433"/>
            <a:ext cx="41148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417320" y="2962656"/>
            <a:ext cx="98298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81912" y="3090672"/>
            <a:ext cx="95189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Teams approval transport</a:t>
            </a:r>
            <a:endParaRPr lang="en-US" sz="1320" dirty="0"/>
          </a:p>
        </p:txBody>
      </p:sp>
      <p:sp>
        <p:nvSpPr>
          <p:cNvPr id="20" name="Text 18"/>
          <p:cNvSpPr/>
          <p:nvPr/>
        </p:nvSpPr>
        <p:spPr>
          <a:xfrm>
            <a:off x="1581912" y="3465576"/>
            <a:ext cx="95189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Logic Apps, Power Automate, webhook, or bot-based notification.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822960" y="4014216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4133545"/>
            <a:ext cx="41148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417320" y="3858768"/>
            <a:ext cx="98298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912" y="3986784"/>
            <a:ext cx="95189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endpoint topology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1581912" y="4361688"/>
            <a:ext cx="95189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VNet, private DNS, APIM/internal ingress profile.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822960" y="4910328"/>
            <a:ext cx="411480" cy="41148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5029657"/>
            <a:ext cx="411480" cy="1440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417320" y="4754880"/>
            <a:ext cx="982980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2DAE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81912" y="4882896"/>
            <a:ext cx="951890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F204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app profiles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1581912" y="5257800"/>
            <a:ext cx="95189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80" dirty="0">
                <a:solidFill>
                  <a:srgbClr val="4D58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 approved paths, event channels, registry keys, URLs, and redaction rules.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02920" y="6556248"/>
            <a:ext cx="11201400" cy="10973"/>
          </a:xfrm>
          <a:prstGeom prst="rect">
            <a:avLst/>
          </a:prstGeom>
          <a:solidFill>
            <a:srgbClr val="D2E1F0"/>
          </a:solidFill>
          <a:ln w="12700">
            <a:solidFill>
              <a:srgbClr val="D2E1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6629400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Agent-Azure-FarSight | governed remote diagnostics</a:t>
            </a:r>
            <a:endParaRPr lang="en-US" sz="730" dirty="0"/>
          </a:p>
        </p:txBody>
      </p:sp>
      <p:sp>
        <p:nvSpPr>
          <p:cNvPr id="33" name="Text 31"/>
          <p:cNvSpPr/>
          <p:nvPr/>
        </p:nvSpPr>
        <p:spPr>
          <a:xfrm>
            <a:off x="11064240" y="6629400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730" dirty="0">
                <a:solidFill>
                  <a:srgbClr val="6E76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C3TechLab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Agent-Azure-FarSight Overview</dc:title>
  <dc:subject>Agent-Azure-FarSight architecture and implementation plan</dc:subject>
  <dc:creator>GitHub Copilot</dc:creator>
  <cp:lastModifiedBy>GitHub Copilot</cp:lastModifiedBy>
  <cp:revision>1</cp:revision>
  <dcterms:created xsi:type="dcterms:W3CDTF">2026-06-12T12:29:32Z</dcterms:created>
  <dcterms:modified xsi:type="dcterms:W3CDTF">2026-06-12T12:29:32Z</dcterms:modified>
</cp:coreProperties>
</file>